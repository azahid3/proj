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2"/>
    <p:sldId id="257" r:id="rId3"/>
    <p:sldId id="258" r:id="rId4"/>
    <p:sldId id="261" r:id="rId5"/>
    <p:sldId id="259"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81"/>
    <p:restoredTop sz="94643"/>
  </p:normalViewPr>
  <p:slideViewPr>
    <p:cSldViewPr snapToGrid="0">
      <p:cViewPr varScale="1">
        <p:scale>
          <a:sx n="110" d="100"/>
          <a:sy n="110" d="100"/>
        </p:scale>
        <p:origin x="5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A71435-3F25-FA45-B39E-AE8B532FA87F}" type="doc">
      <dgm:prSet loTypeId="urn:microsoft.com/office/officeart/2005/8/layout/chevron2" loCatId="" qsTypeId="urn:microsoft.com/office/officeart/2005/8/quickstyle/simple3" qsCatId="simple" csTypeId="urn:microsoft.com/office/officeart/2005/8/colors/accent1_2" csCatId="accent1" phldr="1"/>
      <dgm:spPr/>
      <dgm:t>
        <a:bodyPr/>
        <a:lstStyle/>
        <a:p>
          <a:endParaRPr lang="en-US"/>
        </a:p>
      </dgm:t>
    </dgm:pt>
    <dgm:pt modelId="{105C248E-9406-694A-BDB1-E9CACA4D7C20}">
      <dgm:prSet phldrT="[Text]"/>
      <dgm:spPr/>
      <dgm:t>
        <a:bodyPr/>
        <a:lstStyle/>
        <a:p>
          <a:r>
            <a:rPr lang="en-US" dirty="0"/>
            <a:t>Reconnaissance</a:t>
          </a:r>
        </a:p>
      </dgm:t>
    </dgm:pt>
    <dgm:pt modelId="{CBA61E46-3FB4-6649-9676-A08D9A6251BB}" type="parTrans" cxnId="{E832D099-60A8-DA49-BBA1-EAA3F10BC665}">
      <dgm:prSet/>
      <dgm:spPr/>
      <dgm:t>
        <a:bodyPr/>
        <a:lstStyle/>
        <a:p>
          <a:endParaRPr lang="en-US"/>
        </a:p>
      </dgm:t>
    </dgm:pt>
    <dgm:pt modelId="{3372C2A2-3B9C-F543-9551-FE64EFD7A8EA}" type="sibTrans" cxnId="{E832D099-60A8-DA49-BBA1-EAA3F10BC665}">
      <dgm:prSet/>
      <dgm:spPr/>
      <dgm:t>
        <a:bodyPr/>
        <a:lstStyle/>
        <a:p>
          <a:endParaRPr lang="en-US"/>
        </a:p>
      </dgm:t>
    </dgm:pt>
    <dgm:pt modelId="{5551BBC7-B23E-2E45-B3CE-803D8C6FEF77}">
      <dgm:prSet phldrT="[Text]"/>
      <dgm:spPr/>
      <dgm:t>
        <a:bodyPr/>
        <a:lstStyle/>
        <a:p>
          <a:r>
            <a:rPr lang="en-US" dirty="0"/>
            <a:t>Gather information on target using open source intelligence.</a:t>
          </a:r>
        </a:p>
      </dgm:t>
    </dgm:pt>
    <dgm:pt modelId="{E3DA2FF2-28A7-C949-97AE-A89F74D14CAB}" type="parTrans" cxnId="{4FBB5BE0-6839-364B-8054-84FCB7E61CBF}">
      <dgm:prSet/>
      <dgm:spPr/>
      <dgm:t>
        <a:bodyPr/>
        <a:lstStyle/>
        <a:p>
          <a:endParaRPr lang="en-US"/>
        </a:p>
      </dgm:t>
    </dgm:pt>
    <dgm:pt modelId="{4CFB14B3-31E4-6C46-B5E1-60E4400A5921}" type="sibTrans" cxnId="{4FBB5BE0-6839-364B-8054-84FCB7E61CBF}">
      <dgm:prSet/>
      <dgm:spPr/>
      <dgm:t>
        <a:bodyPr/>
        <a:lstStyle/>
        <a:p>
          <a:endParaRPr lang="en-US"/>
        </a:p>
      </dgm:t>
    </dgm:pt>
    <dgm:pt modelId="{1BFDFCA0-E8FB-A948-8834-F2CC01BEB485}">
      <dgm:prSet phldrT="[Text]"/>
      <dgm:spPr/>
      <dgm:t>
        <a:bodyPr/>
        <a:lstStyle/>
        <a:p>
          <a:r>
            <a:rPr lang="en-US" dirty="0"/>
            <a:t>Identify gaps and vulnerabilities available to exploit</a:t>
          </a:r>
        </a:p>
      </dgm:t>
    </dgm:pt>
    <dgm:pt modelId="{E6EAC341-DFAC-274A-8294-76EE331C68A6}" type="parTrans" cxnId="{52EDA495-3A3E-FA4B-962B-43CE4E9DCD23}">
      <dgm:prSet/>
      <dgm:spPr/>
      <dgm:t>
        <a:bodyPr/>
        <a:lstStyle/>
        <a:p>
          <a:endParaRPr lang="en-US"/>
        </a:p>
      </dgm:t>
    </dgm:pt>
    <dgm:pt modelId="{1DFA53C9-DD9D-404D-8F57-FCE24E44C2E6}" type="sibTrans" cxnId="{52EDA495-3A3E-FA4B-962B-43CE4E9DCD23}">
      <dgm:prSet/>
      <dgm:spPr/>
      <dgm:t>
        <a:bodyPr/>
        <a:lstStyle/>
        <a:p>
          <a:endParaRPr lang="en-US"/>
        </a:p>
      </dgm:t>
    </dgm:pt>
    <dgm:pt modelId="{35E07472-2538-E84E-BCA3-6A1223DDD8F2}">
      <dgm:prSet phldrT="[Text]"/>
      <dgm:spPr/>
      <dgm:t>
        <a:bodyPr/>
        <a:lstStyle/>
        <a:p>
          <a:r>
            <a:rPr lang="en-US" dirty="0"/>
            <a:t>Weaponization</a:t>
          </a:r>
        </a:p>
      </dgm:t>
    </dgm:pt>
    <dgm:pt modelId="{E9F635EA-00B7-D647-AF67-F7E677F9E4D8}" type="parTrans" cxnId="{44BC3502-7786-664C-8945-72CDD9029030}">
      <dgm:prSet/>
      <dgm:spPr/>
      <dgm:t>
        <a:bodyPr/>
        <a:lstStyle/>
        <a:p>
          <a:endParaRPr lang="en-US"/>
        </a:p>
      </dgm:t>
    </dgm:pt>
    <dgm:pt modelId="{D15E21AC-63B8-4546-9620-C9A1E36C5E66}" type="sibTrans" cxnId="{44BC3502-7786-664C-8945-72CDD9029030}">
      <dgm:prSet/>
      <dgm:spPr/>
      <dgm:t>
        <a:bodyPr/>
        <a:lstStyle/>
        <a:p>
          <a:endParaRPr lang="en-US"/>
        </a:p>
      </dgm:t>
    </dgm:pt>
    <dgm:pt modelId="{B46CEA25-A8B3-BC41-9B6E-A3F41221C9C2}">
      <dgm:prSet phldrT="[Text]"/>
      <dgm:spPr/>
      <dgm:t>
        <a:bodyPr/>
        <a:lstStyle/>
        <a:p>
          <a:r>
            <a:rPr lang="en-US" dirty="0"/>
            <a:t>Develop malware to deploy</a:t>
          </a:r>
        </a:p>
      </dgm:t>
    </dgm:pt>
    <dgm:pt modelId="{6D08D200-78CD-F64C-B796-E397B7E5005D}" type="parTrans" cxnId="{A3B6CDB0-AC6E-6141-89EB-12B736ACE468}">
      <dgm:prSet/>
      <dgm:spPr/>
      <dgm:t>
        <a:bodyPr/>
        <a:lstStyle/>
        <a:p>
          <a:endParaRPr lang="en-US"/>
        </a:p>
      </dgm:t>
    </dgm:pt>
    <dgm:pt modelId="{1BE21218-699F-7D4B-9C13-4ABFFFB94652}" type="sibTrans" cxnId="{A3B6CDB0-AC6E-6141-89EB-12B736ACE468}">
      <dgm:prSet/>
      <dgm:spPr/>
      <dgm:t>
        <a:bodyPr/>
        <a:lstStyle/>
        <a:p>
          <a:endParaRPr lang="en-US"/>
        </a:p>
      </dgm:t>
    </dgm:pt>
    <dgm:pt modelId="{94E644F1-25CF-9546-8715-25DB875863F8}">
      <dgm:prSet phldrT="[Text]"/>
      <dgm:spPr/>
      <dgm:t>
        <a:bodyPr/>
        <a:lstStyle/>
        <a:p>
          <a:r>
            <a:rPr lang="en-US" dirty="0"/>
            <a:t>Create files or websites to exploit the known vulnerabilities</a:t>
          </a:r>
        </a:p>
      </dgm:t>
    </dgm:pt>
    <dgm:pt modelId="{107E5FE3-4DB8-5D4D-B784-E370FD70D73A}" type="parTrans" cxnId="{F170792B-5A48-1B45-9406-15B09287D609}">
      <dgm:prSet/>
      <dgm:spPr/>
      <dgm:t>
        <a:bodyPr/>
        <a:lstStyle/>
        <a:p>
          <a:endParaRPr lang="en-US"/>
        </a:p>
      </dgm:t>
    </dgm:pt>
    <dgm:pt modelId="{11E37FCF-F53E-7E45-99C7-3F09A5C324A7}" type="sibTrans" cxnId="{F170792B-5A48-1B45-9406-15B09287D609}">
      <dgm:prSet/>
      <dgm:spPr/>
      <dgm:t>
        <a:bodyPr/>
        <a:lstStyle/>
        <a:p>
          <a:endParaRPr lang="en-US"/>
        </a:p>
      </dgm:t>
    </dgm:pt>
    <dgm:pt modelId="{583F83E0-55BE-FF40-85DB-B53C7378DD11}">
      <dgm:prSet phldrT="[Text]"/>
      <dgm:spPr/>
      <dgm:t>
        <a:bodyPr/>
        <a:lstStyle/>
        <a:p>
          <a:r>
            <a:rPr lang="en-US" dirty="0"/>
            <a:t>Delivery</a:t>
          </a:r>
        </a:p>
      </dgm:t>
    </dgm:pt>
    <dgm:pt modelId="{0849B8F9-35B7-9247-BEAF-66FE9C58D87E}" type="parTrans" cxnId="{892C5A53-32B7-F943-9234-523EB5AB284F}">
      <dgm:prSet/>
      <dgm:spPr/>
      <dgm:t>
        <a:bodyPr/>
        <a:lstStyle/>
        <a:p>
          <a:endParaRPr lang="en-US"/>
        </a:p>
      </dgm:t>
    </dgm:pt>
    <dgm:pt modelId="{1BF0DD6F-AE09-D043-BF07-AFA636E2BF4C}" type="sibTrans" cxnId="{892C5A53-32B7-F943-9234-523EB5AB284F}">
      <dgm:prSet/>
      <dgm:spPr/>
      <dgm:t>
        <a:bodyPr/>
        <a:lstStyle/>
        <a:p>
          <a:endParaRPr lang="en-US"/>
        </a:p>
      </dgm:t>
    </dgm:pt>
    <dgm:pt modelId="{AE4F2387-352D-6342-8560-A9EF15BA8C32}">
      <dgm:prSet phldrT="[Text]"/>
      <dgm:spPr/>
      <dgm:t>
        <a:bodyPr/>
        <a:lstStyle/>
        <a:p>
          <a:r>
            <a:rPr lang="en-US" dirty="0"/>
            <a:t>Send spear fishing emails or leverage other attacks such as watering hole </a:t>
          </a:r>
        </a:p>
      </dgm:t>
    </dgm:pt>
    <dgm:pt modelId="{E90A1ACB-B271-0E42-BF2A-980363C63DB3}" type="parTrans" cxnId="{64F8E3B0-5B05-7241-A22D-02AEBE97ABFD}">
      <dgm:prSet/>
      <dgm:spPr/>
      <dgm:t>
        <a:bodyPr/>
        <a:lstStyle/>
        <a:p>
          <a:endParaRPr lang="en-US"/>
        </a:p>
      </dgm:t>
    </dgm:pt>
    <dgm:pt modelId="{BB01CDA1-8C85-854F-AABF-3E5096784BBD}" type="sibTrans" cxnId="{64F8E3B0-5B05-7241-A22D-02AEBE97ABFD}">
      <dgm:prSet/>
      <dgm:spPr/>
      <dgm:t>
        <a:bodyPr/>
        <a:lstStyle/>
        <a:p>
          <a:endParaRPr lang="en-US"/>
        </a:p>
      </dgm:t>
    </dgm:pt>
    <dgm:pt modelId="{5121BD2A-7D07-4A4D-B37D-EB7D789352A4}">
      <dgm:prSet phldrT="[Text]"/>
      <dgm:spPr/>
      <dgm:t>
        <a:bodyPr/>
        <a:lstStyle/>
        <a:p>
          <a:r>
            <a:rPr lang="en-US" dirty="0"/>
            <a:t>Attach different malwares in the email and or other attacks</a:t>
          </a:r>
        </a:p>
      </dgm:t>
    </dgm:pt>
    <dgm:pt modelId="{326AD67A-CBAF-AB4E-B922-6ADB915AC952}" type="parTrans" cxnId="{B4562A4C-03B8-BB46-97A9-80475E042C8F}">
      <dgm:prSet/>
      <dgm:spPr/>
      <dgm:t>
        <a:bodyPr/>
        <a:lstStyle/>
        <a:p>
          <a:endParaRPr lang="en-US"/>
        </a:p>
      </dgm:t>
    </dgm:pt>
    <dgm:pt modelId="{B310D7D8-9EE1-DC4A-A1EE-FEE87D6A42F9}" type="sibTrans" cxnId="{B4562A4C-03B8-BB46-97A9-80475E042C8F}">
      <dgm:prSet/>
      <dgm:spPr/>
      <dgm:t>
        <a:bodyPr/>
        <a:lstStyle/>
        <a:p>
          <a:endParaRPr lang="en-US"/>
        </a:p>
      </dgm:t>
    </dgm:pt>
    <dgm:pt modelId="{F31AEB9B-E04B-1645-8A73-44F53B0FB31A}">
      <dgm:prSet phldrT="[Text]"/>
      <dgm:spPr/>
      <dgm:t>
        <a:bodyPr/>
        <a:lstStyle/>
        <a:p>
          <a:r>
            <a:rPr lang="en-US" dirty="0"/>
            <a:t>Exploitation</a:t>
          </a:r>
        </a:p>
      </dgm:t>
    </dgm:pt>
    <dgm:pt modelId="{395DBE01-267E-A342-94AC-23203BA55BF3}" type="parTrans" cxnId="{1820158E-653F-7142-B326-16CE1A155251}">
      <dgm:prSet/>
      <dgm:spPr/>
      <dgm:t>
        <a:bodyPr/>
        <a:lstStyle/>
        <a:p>
          <a:endParaRPr lang="en-US"/>
        </a:p>
      </dgm:t>
    </dgm:pt>
    <dgm:pt modelId="{A2C01F5E-17F6-6345-8389-380089C0E77D}" type="sibTrans" cxnId="{1820158E-653F-7142-B326-16CE1A155251}">
      <dgm:prSet/>
      <dgm:spPr/>
      <dgm:t>
        <a:bodyPr/>
        <a:lstStyle/>
        <a:p>
          <a:endParaRPr lang="en-US"/>
        </a:p>
      </dgm:t>
    </dgm:pt>
    <dgm:pt modelId="{4C97B936-FE95-664C-A4AB-6D9240E07677}">
      <dgm:prSet phldrT="[Text]"/>
      <dgm:spPr/>
      <dgm:t>
        <a:bodyPr/>
        <a:lstStyle/>
        <a:p>
          <a:r>
            <a:rPr lang="en-US" dirty="0"/>
            <a:t>Command</a:t>
          </a:r>
          <a:r>
            <a:rPr lang="en-US" baseline="0" dirty="0"/>
            <a:t> and Control</a:t>
          </a:r>
          <a:endParaRPr lang="en-US" dirty="0"/>
        </a:p>
      </dgm:t>
    </dgm:pt>
    <dgm:pt modelId="{6453434B-B38E-D045-9043-2E5D440F260B}" type="parTrans" cxnId="{25EA8A25-D083-5D43-AF07-2F1C1E97FDA3}">
      <dgm:prSet/>
      <dgm:spPr/>
      <dgm:t>
        <a:bodyPr/>
        <a:lstStyle/>
        <a:p>
          <a:endParaRPr lang="en-US"/>
        </a:p>
      </dgm:t>
    </dgm:pt>
    <dgm:pt modelId="{ED34071F-2D51-914D-AF86-8997492B2421}" type="sibTrans" cxnId="{25EA8A25-D083-5D43-AF07-2F1C1E97FDA3}">
      <dgm:prSet/>
      <dgm:spPr/>
      <dgm:t>
        <a:bodyPr/>
        <a:lstStyle/>
        <a:p>
          <a:endParaRPr lang="en-US"/>
        </a:p>
      </dgm:t>
    </dgm:pt>
    <dgm:pt modelId="{93349579-51EB-2342-8A73-55DC92F379A7}">
      <dgm:prSet phldrT="[Text]"/>
      <dgm:spPr/>
      <dgm:t>
        <a:bodyPr/>
        <a:lstStyle/>
        <a:p>
          <a:r>
            <a:rPr lang="en-US" dirty="0"/>
            <a:t>Action and Objective</a:t>
          </a:r>
        </a:p>
      </dgm:t>
    </dgm:pt>
    <dgm:pt modelId="{1A749A4C-2213-B746-9833-5DECC302FC94}" type="parTrans" cxnId="{6B502753-70C1-7842-BDF1-1021001D8EE0}">
      <dgm:prSet/>
      <dgm:spPr/>
      <dgm:t>
        <a:bodyPr/>
        <a:lstStyle/>
        <a:p>
          <a:endParaRPr lang="en-US"/>
        </a:p>
      </dgm:t>
    </dgm:pt>
    <dgm:pt modelId="{147E232F-4494-684A-9239-793C1B6FD277}" type="sibTrans" cxnId="{6B502753-70C1-7842-BDF1-1021001D8EE0}">
      <dgm:prSet/>
      <dgm:spPr/>
      <dgm:t>
        <a:bodyPr/>
        <a:lstStyle/>
        <a:p>
          <a:endParaRPr lang="en-US"/>
        </a:p>
      </dgm:t>
    </dgm:pt>
    <dgm:pt modelId="{3322D65F-3F72-CA43-A32C-79852E7F9133}">
      <dgm:prSet phldrT="[Text]"/>
      <dgm:spPr/>
      <dgm:t>
        <a:bodyPr/>
        <a:lstStyle/>
        <a:p>
          <a:r>
            <a:rPr lang="en-US" dirty="0"/>
            <a:t>Use malware to exploit the workstation</a:t>
          </a:r>
        </a:p>
      </dgm:t>
    </dgm:pt>
    <dgm:pt modelId="{175510CE-08B7-7E4E-808D-6ADBF3587E3A}" type="parTrans" cxnId="{40D4C14B-8F25-6041-9B16-7269111A7DE2}">
      <dgm:prSet/>
      <dgm:spPr/>
    </dgm:pt>
    <dgm:pt modelId="{F07FD5CD-C2AA-294B-A1E4-E5FD0821887B}" type="sibTrans" cxnId="{40D4C14B-8F25-6041-9B16-7269111A7DE2}">
      <dgm:prSet/>
      <dgm:spPr/>
    </dgm:pt>
    <dgm:pt modelId="{728B015E-B8AF-AB47-9179-D186759BE2F4}">
      <dgm:prSet phldrT="[Text]"/>
      <dgm:spPr/>
      <dgm:t>
        <a:bodyPr/>
        <a:lstStyle/>
        <a:p>
          <a:r>
            <a:rPr lang="en-US" dirty="0"/>
            <a:t>Leverage zero-day exploits to attack any unauthorized sources and or websites</a:t>
          </a:r>
        </a:p>
      </dgm:t>
    </dgm:pt>
    <dgm:pt modelId="{E40E5CE6-2F30-8D4C-993E-E05FEAF7F67B}" type="parTrans" cxnId="{AEAD60AA-0A2A-414A-ADBD-471286323F1C}">
      <dgm:prSet/>
      <dgm:spPr/>
    </dgm:pt>
    <dgm:pt modelId="{839C869E-1959-8644-998F-DEA9824338B0}" type="sibTrans" cxnId="{AEAD60AA-0A2A-414A-ADBD-471286323F1C}">
      <dgm:prSet/>
      <dgm:spPr/>
    </dgm:pt>
    <dgm:pt modelId="{822C2526-65CE-DE47-914F-DD108389A350}">
      <dgm:prSet phldrT="[Text]"/>
      <dgm:spPr/>
      <dgm:t>
        <a:bodyPr/>
        <a:lstStyle/>
        <a:p>
          <a:r>
            <a:rPr lang="en-US" dirty="0"/>
            <a:t>Installation</a:t>
          </a:r>
        </a:p>
      </dgm:t>
    </dgm:pt>
    <dgm:pt modelId="{0EFBA7FE-A4C9-0548-8171-3E70A6EF226D}" type="parTrans" cxnId="{A9883ED7-9490-E642-8156-F369DEAB6B3E}">
      <dgm:prSet/>
      <dgm:spPr/>
    </dgm:pt>
    <dgm:pt modelId="{C99ED994-63F7-844E-8BFB-E143C7A1636E}" type="sibTrans" cxnId="{A9883ED7-9490-E642-8156-F369DEAB6B3E}">
      <dgm:prSet/>
      <dgm:spPr/>
    </dgm:pt>
    <dgm:pt modelId="{DDB8042C-35EC-744E-AC7E-228F73F414D5}">
      <dgm:prSet phldrT="[Text]"/>
      <dgm:spPr/>
      <dgm:t>
        <a:bodyPr/>
        <a:lstStyle/>
        <a:p>
          <a:r>
            <a:rPr lang="en-US" dirty="0"/>
            <a:t>Steal sensitive data and or disrupt any current workflows</a:t>
          </a:r>
        </a:p>
      </dgm:t>
    </dgm:pt>
    <dgm:pt modelId="{2DC9F2CB-2EF9-E348-B94E-3F3D1BC50FE9}" type="parTrans" cxnId="{C6FB2A6B-6112-4545-8A67-83739C9D9B5E}">
      <dgm:prSet/>
      <dgm:spPr/>
    </dgm:pt>
    <dgm:pt modelId="{682A6622-D165-DF4A-94E9-000C254FE9F0}" type="sibTrans" cxnId="{C6FB2A6B-6112-4545-8A67-83739C9D9B5E}">
      <dgm:prSet/>
      <dgm:spPr/>
    </dgm:pt>
    <dgm:pt modelId="{15243E43-A2DF-DB46-A5B6-C8AB2DF8D301}">
      <dgm:prSet phldrT="[Text]"/>
      <dgm:spPr/>
      <dgm:t>
        <a:bodyPr/>
        <a:lstStyle/>
        <a:p>
          <a:r>
            <a:rPr lang="en-US" dirty="0"/>
            <a:t>Use encryption to maintain malicious traffic</a:t>
          </a:r>
        </a:p>
      </dgm:t>
    </dgm:pt>
    <dgm:pt modelId="{5F251EAA-D79B-9841-ACC8-E3566954F9E8}" type="parTrans" cxnId="{F97A493C-9D6C-9343-81FC-B0BAF0B934DB}">
      <dgm:prSet/>
      <dgm:spPr/>
    </dgm:pt>
    <dgm:pt modelId="{777290EA-4742-BD46-832B-A8666A03FA70}" type="sibTrans" cxnId="{F97A493C-9D6C-9343-81FC-B0BAF0B934DB}">
      <dgm:prSet/>
      <dgm:spPr/>
    </dgm:pt>
    <dgm:pt modelId="{B7A2EF98-128D-6646-B61A-0ECD6ACC5F8A}">
      <dgm:prSet phldrT="[Text]"/>
      <dgm:spPr/>
      <dgm:t>
        <a:bodyPr/>
        <a:lstStyle/>
        <a:p>
          <a:r>
            <a:rPr lang="en-US" dirty="0"/>
            <a:t>Establish a maintained connection </a:t>
          </a:r>
        </a:p>
      </dgm:t>
    </dgm:pt>
    <dgm:pt modelId="{75DC287C-17C1-5E4C-BA4E-794D9D0F6F7C}" type="parTrans" cxnId="{6DF57F66-64F3-4C4E-BB3C-1431BAB8F368}">
      <dgm:prSet/>
      <dgm:spPr/>
    </dgm:pt>
    <dgm:pt modelId="{FB0E18FB-B26B-D748-B8D8-2E8F787774BC}" type="sibTrans" cxnId="{6DF57F66-64F3-4C4E-BB3C-1431BAB8F368}">
      <dgm:prSet/>
      <dgm:spPr/>
    </dgm:pt>
    <dgm:pt modelId="{1450479E-A800-8C40-B2B5-6A54BCE83D14}">
      <dgm:prSet phldrT="[Text]"/>
      <dgm:spPr/>
      <dgm:t>
        <a:bodyPr/>
        <a:lstStyle/>
        <a:p>
          <a:r>
            <a:rPr lang="en-US" dirty="0"/>
            <a:t>Install all the malware that needs to be installed </a:t>
          </a:r>
          <a:r>
            <a:rPr lang="en-US" dirty="0" err="1"/>
            <a:t>i.e</a:t>
          </a:r>
          <a:r>
            <a:rPr lang="en-US" dirty="0"/>
            <a:t> backdoors or remote access tools</a:t>
          </a:r>
        </a:p>
      </dgm:t>
    </dgm:pt>
    <dgm:pt modelId="{C2B03D82-5457-584A-894C-477083CA85B1}" type="parTrans" cxnId="{4052A39F-7919-024C-AD50-DB4DF5D61859}">
      <dgm:prSet/>
      <dgm:spPr/>
    </dgm:pt>
    <dgm:pt modelId="{2D229487-89E2-0346-9CEB-ED2E7F7BB3B0}" type="sibTrans" cxnId="{4052A39F-7919-024C-AD50-DB4DF5D61859}">
      <dgm:prSet/>
      <dgm:spPr/>
    </dgm:pt>
    <dgm:pt modelId="{9535D48A-02B4-9C40-8CC9-FB9D591911A6}">
      <dgm:prSet phldrT="[Text]"/>
      <dgm:spPr/>
      <dgm:t>
        <a:bodyPr/>
        <a:lstStyle/>
        <a:p>
          <a:r>
            <a:rPr lang="en-US" dirty="0"/>
            <a:t>Maintain access</a:t>
          </a:r>
        </a:p>
      </dgm:t>
    </dgm:pt>
    <dgm:pt modelId="{CBA0A66C-2028-DB4D-AB5A-53CFABA1BE47}" type="parTrans" cxnId="{EA72AEF5-6E4A-454D-AA42-44286F2B7C79}">
      <dgm:prSet/>
      <dgm:spPr/>
    </dgm:pt>
    <dgm:pt modelId="{1815C764-E0EF-5044-AF27-E27E9928C3BB}" type="sibTrans" cxnId="{EA72AEF5-6E4A-454D-AA42-44286F2B7C79}">
      <dgm:prSet/>
      <dgm:spPr/>
    </dgm:pt>
    <dgm:pt modelId="{682D763C-011C-614E-B671-A6FC35DAE94B}">
      <dgm:prSet phldrT="[Text]"/>
      <dgm:spPr/>
      <dgm:t>
        <a:bodyPr/>
        <a:lstStyle/>
        <a:p>
          <a:r>
            <a:rPr lang="en-US" dirty="0"/>
            <a:t>Maintain access to logs and or systems to ensure proper information is being retrieved.</a:t>
          </a:r>
        </a:p>
      </dgm:t>
    </dgm:pt>
    <dgm:pt modelId="{D988DC9C-5E7C-D848-8204-100A76C47C29}" type="parTrans" cxnId="{25615622-9577-6140-AF10-C002FAC51AB5}">
      <dgm:prSet/>
      <dgm:spPr/>
    </dgm:pt>
    <dgm:pt modelId="{C99C966C-D070-394B-841E-734FBD418D76}" type="sibTrans" cxnId="{25615622-9577-6140-AF10-C002FAC51AB5}">
      <dgm:prSet/>
      <dgm:spPr/>
    </dgm:pt>
    <dgm:pt modelId="{7A82D923-D841-D643-B18B-44A97136CD62}" type="pres">
      <dgm:prSet presAssocID="{FFA71435-3F25-FA45-B39E-AE8B532FA87F}" presName="linearFlow" presStyleCnt="0">
        <dgm:presLayoutVars>
          <dgm:dir/>
          <dgm:animLvl val="lvl"/>
          <dgm:resizeHandles val="exact"/>
        </dgm:presLayoutVars>
      </dgm:prSet>
      <dgm:spPr/>
    </dgm:pt>
    <dgm:pt modelId="{0A7F6033-B89E-F942-BDE8-4DA5504D3F29}" type="pres">
      <dgm:prSet presAssocID="{105C248E-9406-694A-BDB1-E9CACA4D7C20}" presName="composite" presStyleCnt="0"/>
      <dgm:spPr/>
    </dgm:pt>
    <dgm:pt modelId="{B6EA5EAC-2E86-9A4E-A389-AFCF770ED32D}" type="pres">
      <dgm:prSet presAssocID="{105C248E-9406-694A-BDB1-E9CACA4D7C20}" presName="parentText" presStyleLbl="alignNode1" presStyleIdx="0" presStyleCnt="7">
        <dgm:presLayoutVars>
          <dgm:chMax val="1"/>
          <dgm:bulletEnabled val="1"/>
        </dgm:presLayoutVars>
      </dgm:prSet>
      <dgm:spPr/>
    </dgm:pt>
    <dgm:pt modelId="{4B1456A9-1580-BE4A-8C25-F581F144D1B3}" type="pres">
      <dgm:prSet presAssocID="{105C248E-9406-694A-BDB1-E9CACA4D7C20}" presName="descendantText" presStyleLbl="alignAcc1" presStyleIdx="0" presStyleCnt="7">
        <dgm:presLayoutVars>
          <dgm:bulletEnabled val="1"/>
        </dgm:presLayoutVars>
      </dgm:prSet>
      <dgm:spPr/>
    </dgm:pt>
    <dgm:pt modelId="{13B14E49-CD53-3847-90A6-4B992CAE7D39}" type="pres">
      <dgm:prSet presAssocID="{3372C2A2-3B9C-F543-9551-FE64EFD7A8EA}" presName="sp" presStyleCnt="0"/>
      <dgm:spPr/>
    </dgm:pt>
    <dgm:pt modelId="{3F0C2ABA-72BF-EE41-97FD-994BE69C7A02}" type="pres">
      <dgm:prSet presAssocID="{35E07472-2538-E84E-BCA3-6A1223DDD8F2}" presName="composite" presStyleCnt="0"/>
      <dgm:spPr/>
    </dgm:pt>
    <dgm:pt modelId="{EF1FCB80-2843-4445-BE3C-71B449C85F93}" type="pres">
      <dgm:prSet presAssocID="{35E07472-2538-E84E-BCA3-6A1223DDD8F2}" presName="parentText" presStyleLbl="alignNode1" presStyleIdx="1" presStyleCnt="7">
        <dgm:presLayoutVars>
          <dgm:chMax val="1"/>
          <dgm:bulletEnabled val="1"/>
        </dgm:presLayoutVars>
      </dgm:prSet>
      <dgm:spPr/>
    </dgm:pt>
    <dgm:pt modelId="{C7FD5DDC-BA7F-F74A-8CE4-E6ED4C19CB4C}" type="pres">
      <dgm:prSet presAssocID="{35E07472-2538-E84E-BCA3-6A1223DDD8F2}" presName="descendantText" presStyleLbl="alignAcc1" presStyleIdx="1" presStyleCnt="7">
        <dgm:presLayoutVars>
          <dgm:bulletEnabled val="1"/>
        </dgm:presLayoutVars>
      </dgm:prSet>
      <dgm:spPr/>
    </dgm:pt>
    <dgm:pt modelId="{8A3314FA-43BF-5C48-9532-F42A61C11FA1}" type="pres">
      <dgm:prSet presAssocID="{D15E21AC-63B8-4546-9620-C9A1E36C5E66}" presName="sp" presStyleCnt="0"/>
      <dgm:spPr/>
    </dgm:pt>
    <dgm:pt modelId="{626EFB22-F477-434D-B596-736D0EC3763F}" type="pres">
      <dgm:prSet presAssocID="{583F83E0-55BE-FF40-85DB-B53C7378DD11}" presName="composite" presStyleCnt="0"/>
      <dgm:spPr/>
    </dgm:pt>
    <dgm:pt modelId="{304A7A43-B040-8644-8C06-9BBE0BCA80CD}" type="pres">
      <dgm:prSet presAssocID="{583F83E0-55BE-FF40-85DB-B53C7378DD11}" presName="parentText" presStyleLbl="alignNode1" presStyleIdx="2" presStyleCnt="7">
        <dgm:presLayoutVars>
          <dgm:chMax val="1"/>
          <dgm:bulletEnabled val="1"/>
        </dgm:presLayoutVars>
      </dgm:prSet>
      <dgm:spPr/>
    </dgm:pt>
    <dgm:pt modelId="{6D4DD243-6ADC-5B42-A8DE-EC8A7BFE95B7}" type="pres">
      <dgm:prSet presAssocID="{583F83E0-55BE-FF40-85DB-B53C7378DD11}" presName="descendantText" presStyleLbl="alignAcc1" presStyleIdx="2" presStyleCnt="7">
        <dgm:presLayoutVars>
          <dgm:bulletEnabled val="1"/>
        </dgm:presLayoutVars>
      </dgm:prSet>
      <dgm:spPr/>
    </dgm:pt>
    <dgm:pt modelId="{739011CA-F27E-2748-969D-E84E069C3636}" type="pres">
      <dgm:prSet presAssocID="{1BF0DD6F-AE09-D043-BF07-AFA636E2BF4C}" presName="sp" presStyleCnt="0"/>
      <dgm:spPr/>
    </dgm:pt>
    <dgm:pt modelId="{4ABBD1C2-0208-3349-9013-2A4197615EE8}" type="pres">
      <dgm:prSet presAssocID="{F31AEB9B-E04B-1645-8A73-44F53B0FB31A}" presName="composite" presStyleCnt="0"/>
      <dgm:spPr/>
    </dgm:pt>
    <dgm:pt modelId="{C89591D5-FD1D-D746-8E91-0B092237554B}" type="pres">
      <dgm:prSet presAssocID="{F31AEB9B-E04B-1645-8A73-44F53B0FB31A}" presName="parentText" presStyleLbl="alignNode1" presStyleIdx="3" presStyleCnt="7">
        <dgm:presLayoutVars>
          <dgm:chMax val="1"/>
          <dgm:bulletEnabled val="1"/>
        </dgm:presLayoutVars>
      </dgm:prSet>
      <dgm:spPr/>
    </dgm:pt>
    <dgm:pt modelId="{D94CD2AB-0536-D54D-87BD-C22FE83F8450}" type="pres">
      <dgm:prSet presAssocID="{F31AEB9B-E04B-1645-8A73-44F53B0FB31A}" presName="descendantText" presStyleLbl="alignAcc1" presStyleIdx="3" presStyleCnt="7">
        <dgm:presLayoutVars>
          <dgm:bulletEnabled val="1"/>
        </dgm:presLayoutVars>
      </dgm:prSet>
      <dgm:spPr/>
    </dgm:pt>
    <dgm:pt modelId="{F422AF1A-6DD7-7B42-AEFF-DB94D7DACBF2}" type="pres">
      <dgm:prSet presAssocID="{A2C01F5E-17F6-6345-8389-380089C0E77D}" presName="sp" presStyleCnt="0"/>
      <dgm:spPr/>
    </dgm:pt>
    <dgm:pt modelId="{848028D4-CB02-124B-A3E1-E68E5C8AFD82}" type="pres">
      <dgm:prSet presAssocID="{822C2526-65CE-DE47-914F-DD108389A350}" presName="composite" presStyleCnt="0"/>
      <dgm:spPr/>
    </dgm:pt>
    <dgm:pt modelId="{4BC4E4DB-3E01-BE4C-B56A-EE43BBFF77B6}" type="pres">
      <dgm:prSet presAssocID="{822C2526-65CE-DE47-914F-DD108389A350}" presName="parentText" presStyleLbl="alignNode1" presStyleIdx="4" presStyleCnt="7">
        <dgm:presLayoutVars>
          <dgm:chMax val="1"/>
          <dgm:bulletEnabled val="1"/>
        </dgm:presLayoutVars>
      </dgm:prSet>
      <dgm:spPr/>
    </dgm:pt>
    <dgm:pt modelId="{4C957275-2392-D540-8B24-6667D6C36E61}" type="pres">
      <dgm:prSet presAssocID="{822C2526-65CE-DE47-914F-DD108389A350}" presName="descendantText" presStyleLbl="alignAcc1" presStyleIdx="4" presStyleCnt="7">
        <dgm:presLayoutVars>
          <dgm:bulletEnabled val="1"/>
        </dgm:presLayoutVars>
      </dgm:prSet>
      <dgm:spPr/>
    </dgm:pt>
    <dgm:pt modelId="{E6F7B9D1-539D-2642-BDA0-9BFBAF6A9977}" type="pres">
      <dgm:prSet presAssocID="{C99ED994-63F7-844E-8BFB-E143C7A1636E}" presName="sp" presStyleCnt="0"/>
      <dgm:spPr/>
    </dgm:pt>
    <dgm:pt modelId="{86E1E685-9D94-0F41-B9B2-632F0D07DC1F}" type="pres">
      <dgm:prSet presAssocID="{4C97B936-FE95-664C-A4AB-6D9240E07677}" presName="composite" presStyleCnt="0"/>
      <dgm:spPr/>
    </dgm:pt>
    <dgm:pt modelId="{2C136A54-5DC1-9E47-ABB6-DEAC55B5A7A5}" type="pres">
      <dgm:prSet presAssocID="{4C97B936-FE95-664C-A4AB-6D9240E07677}" presName="parentText" presStyleLbl="alignNode1" presStyleIdx="5" presStyleCnt="7">
        <dgm:presLayoutVars>
          <dgm:chMax val="1"/>
          <dgm:bulletEnabled val="1"/>
        </dgm:presLayoutVars>
      </dgm:prSet>
      <dgm:spPr/>
    </dgm:pt>
    <dgm:pt modelId="{2D87CE91-B64A-044E-9753-8B8F1F59624D}" type="pres">
      <dgm:prSet presAssocID="{4C97B936-FE95-664C-A4AB-6D9240E07677}" presName="descendantText" presStyleLbl="alignAcc1" presStyleIdx="5" presStyleCnt="7">
        <dgm:presLayoutVars>
          <dgm:bulletEnabled val="1"/>
        </dgm:presLayoutVars>
      </dgm:prSet>
      <dgm:spPr/>
    </dgm:pt>
    <dgm:pt modelId="{9EF35D50-81BF-384C-BA09-15A825E9152B}" type="pres">
      <dgm:prSet presAssocID="{ED34071F-2D51-914D-AF86-8997492B2421}" presName="sp" presStyleCnt="0"/>
      <dgm:spPr/>
    </dgm:pt>
    <dgm:pt modelId="{3E878FD5-492C-4148-BD80-F711A073410D}" type="pres">
      <dgm:prSet presAssocID="{93349579-51EB-2342-8A73-55DC92F379A7}" presName="composite" presStyleCnt="0"/>
      <dgm:spPr/>
    </dgm:pt>
    <dgm:pt modelId="{836B94D7-6A06-4848-9B36-D781423A1C4B}" type="pres">
      <dgm:prSet presAssocID="{93349579-51EB-2342-8A73-55DC92F379A7}" presName="parentText" presStyleLbl="alignNode1" presStyleIdx="6" presStyleCnt="7">
        <dgm:presLayoutVars>
          <dgm:chMax val="1"/>
          <dgm:bulletEnabled val="1"/>
        </dgm:presLayoutVars>
      </dgm:prSet>
      <dgm:spPr/>
    </dgm:pt>
    <dgm:pt modelId="{4DC00B7A-C47D-4C4F-8BCE-0702DA03F1C2}" type="pres">
      <dgm:prSet presAssocID="{93349579-51EB-2342-8A73-55DC92F379A7}" presName="descendantText" presStyleLbl="alignAcc1" presStyleIdx="6" presStyleCnt="7">
        <dgm:presLayoutVars>
          <dgm:bulletEnabled val="1"/>
        </dgm:presLayoutVars>
      </dgm:prSet>
      <dgm:spPr/>
    </dgm:pt>
  </dgm:ptLst>
  <dgm:cxnLst>
    <dgm:cxn modelId="{014D1900-6DC6-4E44-9451-E19292FC1464}" type="presOf" srcId="{728B015E-B8AF-AB47-9179-D186759BE2F4}" destId="{D94CD2AB-0536-D54D-87BD-C22FE83F8450}" srcOrd="0" destOrd="1" presId="urn:microsoft.com/office/officeart/2005/8/layout/chevron2"/>
    <dgm:cxn modelId="{44BC3502-7786-664C-8945-72CDD9029030}" srcId="{FFA71435-3F25-FA45-B39E-AE8B532FA87F}" destId="{35E07472-2538-E84E-BCA3-6A1223DDD8F2}" srcOrd="1" destOrd="0" parTransId="{E9F635EA-00B7-D647-AF67-F7E677F9E4D8}" sibTransId="{D15E21AC-63B8-4546-9620-C9A1E36C5E66}"/>
    <dgm:cxn modelId="{E3B6660C-B966-1D42-A812-3EA50FF463FF}" type="presOf" srcId="{94E644F1-25CF-9546-8715-25DB875863F8}" destId="{C7FD5DDC-BA7F-F74A-8CE4-E6ED4C19CB4C}" srcOrd="0" destOrd="1" presId="urn:microsoft.com/office/officeart/2005/8/layout/chevron2"/>
    <dgm:cxn modelId="{3EB37C1F-D8E8-3C4F-8B2C-1E354B0D72A5}" type="presOf" srcId="{35E07472-2538-E84E-BCA3-6A1223DDD8F2}" destId="{EF1FCB80-2843-4445-BE3C-71B449C85F93}" srcOrd="0" destOrd="0" presId="urn:microsoft.com/office/officeart/2005/8/layout/chevron2"/>
    <dgm:cxn modelId="{CBE0B320-F637-F64E-B912-970784DE2CDD}" type="presOf" srcId="{5121BD2A-7D07-4A4D-B37D-EB7D789352A4}" destId="{6D4DD243-6ADC-5B42-A8DE-EC8A7BFE95B7}" srcOrd="0" destOrd="1" presId="urn:microsoft.com/office/officeart/2005/8/layout/chevron2"/>
    <dgm:cxn modelId="{25615622-9577-6140-AF10-C002FAC51AB5}" srcId="{93349579-51EB-2342-8A73-55DC92F379A7}" destId="{682D763C-011C-614E-B671-A6FC35DAE94B}" srcOrd="1" destOrd="0" parTransId="{D988DC9C-5E7C-D848-8204-100A76C47C29}" sibTransId="{C99C966C-D070-394B-841E-734FBD418D76}"/>
    <dgm:cxn modelId="{25EA8A25-D083-5D43-AF07-2F1C1E97FDA3}" srcId="{FFA71435-3F25-FA45-B39E-AE8B532FA87F}" destId="{4C97B936-FE95-664C-A4AB-6D9240E07677}" srcOrd="5" destOrd="0" parTransId="{6453434B-B38E-D045-9043-2E5D440F260B}" sibTransId="{ED34071F-2D51-914D-AF86-8997492B2421}"/>
    <dgm:cxn modelId="{F170792B-5A48-1B45-9406-15B09287D609}" srcId="{35E07472-2538-E84E-BCA3-6A1223DDD8F2}" destId="{94E644F1-25CF-9546-8715-25DB875863F8}" srcOrd="1" destOrd="0" parTransId="{107E5FE3-4DB8-5D4D-B784-E370FD70D73A}" sibTransId="{11E37FCF-F53E-7E45-99C7-3F09A5C324A7}"/>
    <dgm:cxn modelId="{3310A735-F155-B447-AD3E-7E8841E7F371}" type="presOf" srcId="{1BFDFCA0-E8FB-A948-8834-F2CC01BEB485}" destId="{4B1456A9-1580-BE4A-8C25-F581F144D1B3}" srcOrd="0" destOrd="1" presId="urn:microsoft.com/office/officeart/2005/8/layout/chevron2"/>
    <dgm:cxn modelId="{4D341B39-D8CC-3845-BD7B-01B24E12543E}" type="presOf" srcId="{DDB8042C-35EC-744E-AC7E-228F73F414D5}" destId="{4DC00B7A-C47D-4C4F-8BCE-0702DA03F1C2}" srcOrd="0" destOrd="0" presId="urn:microsoft.com/office/officeart/2005/8/layout/chevron2"/>
    <dgm:cxn modelId="{F97A493C-9D6C-9343-81FC-B0BAF0B934DB}" srcId="{4C97B936-FE95-664C-A4AB-6D9240E07677}" destId="{15243E43-A2DF-DB46-A5B6-C8AB2DF8D301}" srcOrd="1" destOrd="0" parTransId="{5F251EAA-D79B-9841-ACC8-E3566954F9E8}" sibTransId="{777290EA-4742-BD46-832B-A8666A03FA70}"/>
    <dgm:cxn modelId="{40D4C14B-8F25-6041-9B16-7269111A7DE2}" srcId="{F31AEB9B-E04B-1645-8A73-44F53B0FB31A}" destId="{3322D65F-3F72-CA43-A32C-79852E7F9133}" srcOrd="0" destOrd="0" parTransId="{175510CE-08B7-7E4E-808D-6ADBF3587E3A}" sibTransId="{F07FD5CD-C2AA-294B-A1E4-E5FD0821887B}"/>
    <dgm:cxn modelId="{B4562A4C-03B8-BB46-97A9-80475E042C8F}" srcId="{583F83E0-55BE-FF40-85DB-B53C7378DD11}" destId="{5121BD2A-7D07-4A4D-B37D-EB7D789352A4}" srcOrd="1" destOrd="0" parTransId="{326AD67A-CBAF-AB4E-B922-6ADB915AC952}" sibTransId="{B310D7D8-9EE1-DC4A-A1EE-FEE87D6A42F9}"/>
    <dgm:cxn modelId="{6B502753-70C1-7842-BDF1-1021001D8EE0}" srcId="{FFA71435-3F25-FA45-B39E-AE8B532FA87F}" destId="{93349579-51EB-2342-8A73-55DC92F379A7}" srcOrd="6" destOrd="0" parTransId="{1A749A4C-2213-B746-9833-5DECC302FC94}" sibTransId="{147E232F-4494-684A-9239-793C1B6FD277}"/>
    <dgm:cxn modelId="{892C5A53-32B7-F943-9234-523EB5AB284F}" srcId="{FFA71435-3F25-FA45-B39E-AE8B532FA87F}" destId="{583F83E0-55BE-FF40-85DB-B53C7378DD11}" srcOrd="2" destOrd="0" parTransId="{0849B8F9-35B7-9247-BEAF-66FE9C58D87E}" sibTransId="{1BF0DD6F-AE09-D043-BF07-AFA636E2BF4C}"/>
    <dgm:cxn modelId="{AC69AF55-FE72-9747-9193-D6060C910722}" type="presOf" srcId="{F31AEB9B-E04B-1645-8A73-44F53B0FB31A}" destId="{C89591D5-FD1D-D746-8E91-0B092237554B}" srcOrd="0" destOrd="0" presId="urn:microsoft.com/office/officeart/2005/8/layout/chevron2"/>
    <dgm:cxn modelId="{0A2FEF5D-5EA0-1448-823D-AF603A3052CA}" type="presOf" srcId="{93349579-51EB-2342-8A73-55DC92F379A7}" destId="{836B94D7-6A06-4848-9B36-D781423A1C4B}" srcOrd="0" destOrd="0" presId="urn:microsoft.com/office/officeart/2005/8/layout/chevron2"/>
    <dgm:cxn modelId="{6DF57F66-64F3-4C4E-BB3C-1431BAB8F368}" srcId="{4C97B936-FE95-664C-A4AB-6D9240E07677}" destId="{B7A2EF98-128D-6646-B61A-0ECD6ACC5F8A}" srcOrd="0" destOrd="0" parTransId="{75DC287C-17C1-5E4C-BA4E-794D9D0F6F7C}" sibTransId="{FB0E18FB-B26B-D748-B8D8-2E8F787774BC}"/>
    <dgm:cxn modelId="{529DAE67-FD6C-D44F-8432-F3761C50CCAB}" type="presOf" srcId="{822C2526-65CE-DE47-914F-DD108389A350}" destId="{4BC4E4DB-3E01-BE4C-B56A-EE43BBFF77B6}" srcOrd="0" destOrd="0" presId="urn:microsoft.com/office/officeart/2005/8/layout/chevron2"/>
    <dgm:cxn modelId="{C6FB2A6B-6112-4545-8A67-83739C9D9B5E}" srcId="{93349579-51EB-2342-8A73-55DC92F379A7}" destId="{DDB8042C-35EC-744E-AC7E-228F73F414D5}" srcOrd="0" destOrd="0" parTransId="{2DC9F2CB-2EF9-E348-B94E-3F3D1BC50FE9}" sibTransId="{682A6622-D165-DF4A-94E9-000C254FE9F0}"/>
    <dgm:cxn modelId="{30B10474-CE78-B542-8E80-216FD5464631}" type="presOf" srcId="{3322D65F-3F72-CA43-A32C-79852E7F9133}" destId="{D94CD2AB-0536-D54D-87BD-C22FE83F8450}" srcOrd="0" destOrd="0" presId="urn:microsoft.com/office/officeart/2005/8/layout/chevron2"/>
    <dgm:cxn modelId="{9A9CE17C-14C7-C34D-BE95-EC4BA1E75193}" type="presOf" srcId="{682D763C-011C-614E-B671-A6FC35DAE94B}" destId="{4DC00B7A-C47D-4C4F-8BCE-0702DA03F1C2}" srcOrd="0" destOrd="1" presId="urn:microsoft.com/office/officeart/2005/8/layout/chevron2"/>
    <dgm:cxn modelId="{9A4A1D87-A5F8-4048-9D6E-25132D6DBD60}" type="presOf" srcId="{5551BBC7-B23E-2E45-B3CE-803D8C6FEF77}" destId="{4B1456A9-1580-BE4A-8C25-F581F144D1B3}" srcOrd="0" destOrd="0" presId="urn:microsoft.com/office/officeart/2005/8/layout/chevron2"/>
    <dgm:cxn modelId="{1820158E-653F-7142-B326-16CE1A155251}" srcId="{FFA71435-3F25-FA45-B39E-AE8B532FA87F}" destId="{F31AEB9B-E04B-1645-8A73-44F53B0FB31A}" srcOrd="3" destOrd="0" parTransId="{395DBE01-267E-A342-94AC-23203BA55BF3}" sibTransId="{A2C01F5E-17F6-6345-8389-380089C0E77D}"/>
    <dgm:cxn modelId="{2C030A92-881D-B143-A790-38E06CA72F0A}" type="presOf" srcId="{AE4F2387-352D-6342-8560-A9EF15BA8C32}" destId="{6D4DD243-6ADC-5B42-A8DE-EC8A7BFE95B7}" srcOrd="0" destOrd="0" presId="urn:microsoft.com/office/officeart/2005/8/layout/chevron2"/>
    <dgm:cxn modelId="{52EDA495-3A3E-FA4B-962B-43CE4E9DCD23}" srcId="{105C248E-9406-694A-BDB1-E9CACA4D7C20}" destId="{1BFDFCA0-E8FB-A948-8834-F2CC01BEB485}" srcOrd="1" destOrd="0" parTransId="{E6EAC341-DFAC-274A-8294-76EE331C68A6}" sibTransId="{1DFA53C9-DD9D-404D-8F57-FCE24E44C2E6}"/>
    <dgm:cxn modelId="{E832D099-60A8-DA49-BBA1-EAA3F10BC665}" srcId="{FFA71435-3F25-FA45-B39E-AE8B532FA87F}" destId="{105C248E-9406-694A-BDB1-E9CACA4D7C20}" srcOrd="0" destOrd="0" parTransId="{CBA61E46-3FB4-6649-9676-A08D9A6251BB}" sibTransId="{3372C2A2-3B9C-F543-9551-FE64EFD7A8EA}"/>
    <dgm:cxn modelId="{4052A39F-7919-024C-AD50-DB4DF5D61859}" srcId="{822C2526-65CE-DE47-914F-DD108389A350}" destId="{1450479E-A800-8C40-B2B5-6A54BCE83D14}" srcOrd="0" destOrd="0" parTransId="{C2B03D82-5457-584A-894C-477083CA85B1}" sibTransId="{2D229487-89E2-0346-9CEB-ED2E7F7BB3B0}"/>
    <dgm:cxn modelId="{6F215DA1-879C-A14E-A077-45E3AA8D42E1}" type="presOf" srcId="{9535D48A-02B4-9C40-8CC9-FB9D591911A6}" destId="{4C957275-2392-D540-8B24-6667D6C36E61}" srcOrd="0" destOrd="1" presId="urn:microsoft.com/office/officeart/2005/8/layout/chevron2"/>
    <dgm:cxn modelId="{C20E15A8-F30C-F646-AEC0-06571387B708}" type="presOf" srcId="{105C248E-9406-694A-BDB1-E9CACA4D7C20}" destId="{B6EA5EAC-2E86-9A4E-A389-AFCF770ED32D}" srcOrd="0" destOrd="0" presId="urn:microsoft.com/office/officeart/2005/8/layout/chevron2"/>
    <dgm:cxn modelId="{722A15AA-F628-9147-B092-4AD0D346CAC2}" type="presOf" srcId="{15243E43-A2DF-DB46-A5B6-C8AB2DF8D301}" destId="{2D87CE91-B64A-044E-9753-8B8F1F59624D}" srcOrd="0" destOrd="1" presId="urn:microsoft.com/office/officeart/2005/8/layout/chevron2"/>
    <dgm:cxn modelId="{AEAD60AA-0A2A-414A-ADBD-471286323F1C}" srcId="{F31AEB9B-E04B-1645-8A73-44F53B0FB31A}" destId="{728B015E-B8AF-AB47-9179-D186759BE2F4}" srcOrd="1" destOrd="0" parTransId="{E40E5CE6-2F30-8D4C-993E-E05FEAF7F67B}" sibTransId="{839C869E-1959-8644-998F-DEA9824338B0}"/>
    <dgm:cxn modelId="{491011AB-E4C7-DC40-B646-FD768350125D}" type="presOf" srcId="{B7A2EF98-128D-6646-B61A-0ECD6ACC5F8A}" destId="{2D87CE91-B64A-044E-9753-8B8F1F59624D}" srcOrd="0" destOrd="0" presId="urn:microsoft.com/office/officeart/2005/8/layout/chevron2"/>
    <dgm:cxn modelId="{A3B6CDB0-AC6E-6141-89EB-12B736ACE468}" srcId="{35E07472-2538-E84E-BCA3-6A1223DDD8F2}" destId="{B46CEA25-A8B3-BC41-9B6E-A3F41221C9C2}" srcOrd="0" destOrd="0" parTransId="{6D08D200-78CD-F64C-B796-E397B7E5005D}" sibTransId="{1BE21218-699F-7D4B-9C13-4ABFFFB94652}"/>
    <dgm:cxn modelId="{64F8E3B0-5B05-7241-A22D-02AEBE97ABFD}" srcId="{583F83E0-55BE-FF40-85DB-B53C7378DD11}" destId="{AE4F2387-352D-6342-8560-A9EF15BA8C32}" srcOrd="0" destOrd="0" parTransId="{E90A1ACB-B271-0E42-BF2A-980363C63DB3}" sibTransId="{BB01CDA1-8C85-854F-AABF-3E5096784BBD}"/>
    <dgm:cxn modelId="{D4D29CB6-5226-224A-A5C0-C9F13BE475F6}" type="presOf" srcId="{583F83E0-55BE-FF40-85DB-B53C7378DD11}" destId="{304A7A43-B040-8644-8C06-9BBE0BCA80CD}" srcOrd="0" destOrd="0" presId="urn:microsoft.com/office/officeart/2005/8/layout/chevron2"/>
    <dgm:cxn modelId="{A9883ED7-9490-E642-8156-F369DEAB6B3E}" srcId="{FFA71435-3F25-FA45-B39E-AE8B532FA87F}" destId="{822C2526-65CE-DE47-914F-DD108389A350}" srcOrd="4" destOrd="0" parTransId="{0EFBA7FE-A4C9-0548-8171-3E70A6EF226D}" sibTransId="{C99ED994-63F7-844E-8BFB-E143C7A1636E}"/>
    <dgm:cxn modelId="{44F526DD-66AF-D840-BE99-44DF1DE41989}" type="presOf" srcId="{4C97B936-FE95-664C-A4AB-6D9240E07677}" destId="{2C136A54-5DC1-9E47-ABB6-DEAC55B5A7A5}" srcOrd="0" destOrd="0" presId="urn:microsoft.com/office/officeart/2005/8/layout/chevron2"/>
    <dgm:cxn modelId="{4FBB5BE0-6839-364B-8054-84FCB7E61CBF}" srcId="{105C248E-9406-694A-BDB1-E9CACA4D7C20}" destId="{5551BBC7-B23E-2E45-B3CE-803D8C6FEF77}" srcOrd="0" destOrd="0" parTransId="{E3DA2FF2-28A7-C949-97AE-A89F74D14CAB}" sibTransId="{4CFB14B3-31E4-6C46-B5E1-60E4400A5921}"/>
    <dgm:cxn modelId="{525B01E6-FEAF-2F4B-BB92-86F03D7F6E86}" type="presOf" srcId="{FFA71435-3F25-FA45-B39E-AE8B532FA87F}" destId="{7A82D923-D841-D643-B18B-44A97136CD62}" srcOrd="0" destOrd="0" presId="urn:microsoft.com/office/officeart/2005/8/layout/chevron2"/>
    <dgm:cxn modelId="{45BB5AEF-9241-8E4A-A565-AA68B2722265}" type="presOf" srcId="{B46CEA25-A8B3-BC41-9B6E-A3F41221C9C2}" destId="{C7FD5DDC-BA7F-F74A-8CE4-E6ED4C19CB4C}" srcOrd="0" destOrd="0" presId="urn:microsoft.com/office/officeart/2005/8/layout/chevron2"/>
    <dgm:cxn modelId="{7527D5F0-2B42-904E-9699-2FF039A28BD5}" type="presOf" srcId="{1450479E-A800-8C40-B2B5-6A54BCE83D14}" destId="{4C957275-2392-D540-8B24-6667D6C36E61}" srcOrd="0" destOrd="0" presId="urn:microsoft.com/office/officeart/2005/8/layout/chevron2"/>
    <dgm:cxn modelId="{EA72AEF5-6E4A-454D-AA42-44286F2B7C79}" srcId="{822C2526-65CE-DE47-914F-DD108389A350}" destId="{9535D48A-02B4-9C40-8CC9-FB9D591911A6}" srcOrd="1" destOrd="0" parTransId="{CBA0A66C-2028-DB4D-AB5A-53CFABA1BE47}" sibTransId="{1815C764-E0EF-5044-AF27-E27E9928C3BB}"/>
    <dgm:cxn modelId="{E3FC0D00-0D52-1D44-A3DF-0868C0BC3D2E}" type="presParOf" srcId="{7A82D923-D841-D643-B18B-44A97136CD62}" destId="{0A7F6033-B89E-F942-BDE8-4DA5504D3F29}" srcOrd="0" destOrd="0" presId="urn:microsoft.com/office/officeart/2005/8/layout/chevron2"/>
    <dgm:cxn modelId="{11F6FE2F-F609-914E-BC2D-88D22A7C1388}" type="presParOf" srcId="{0A7F6033-B89E-F942-BDE8-4DA5504D3F29}" destId="{B6EA5EAC-2E86-9A4E-A389-AFCF770ED32D}" srcOrd="0" destOrd="0" presId="urn:microsoft.com/office/officeart/2005/8/layout/chevron2"/>
    <dgm:cxn modelId="{BE40479D-AC0F-4444-BB45-7808435C9E25}" type="presParOf" srcId="{0A7F6033-B89E-F942-BDE8-4DA5504D3F29}" destId="{4B1456A9-1580-BE4A-8C25-F581F144D1B3}" srcOrd="1" destOrd="0" presId="urn:microsoft.com/office/officeart/2005/8/layout/chevron2"/>
    <dgm:cxn modelId="{A506A0D0-4A12-3E4D-82DF-4E36B5E7F3EC}" type="presParOf" srcId="{7A82D923-D841-D643-B18B-44A97136CD62}" destId="{13B14E49-CD53-3847-90A6-4B992CAE7D39}" srcOrd="1" destOrd="0" presId="urn:microsoft.com/office/officeart/2005/8/layout/chevron2"/>
    <dgm:cxn modelId="{DF81D3C8-76E4-AC48-8F1E-594D84348348}" type="presParOf" srcId="{7A82D923-D841-D643-B18B-44A97136CD62}" destId="{3F0C2ABA-72BF-EE41-97FD-994BE69C7A02}" srcOrd="2" destOrd="0" presId="urn:microsoft.com/office/officeart/2005/8/layout/chevron2"/>
    <dgm:cxn modelId="{D8522B8A-04FF-894E-AF66-6EA655EF5E34}" type="presParOf" srcId="{3F0C2ABA-72BF-EE41-97FD-994BE69C7A02}" destId="{EF1FCB80-2843-4445-BE3C-71B449C85F93}" srcOrd="0" destOrd="0" presId="urn:microsoft.com/office/officeart/2005/8/layout/chevron2"/>
    <dgm:cxn modelId="{68DB9389-E768-3446-81BC-9D56E2A64E99}" type="presParOf" srcId="{3F0C2ABA-72BF-EE41-97FD-994BE69C7A02}" destId="{C7FD5DDC-BA7F-F74A-8CE4-E6ED4C19CB4C}" srcOrd="1" destOrd="0" presId="urn:microsoft.com/office/officeart/2005/8/layout/chevron2"/>
    <dgm:cxn modelId="{9926822F-E19C-2842-BC00-12B270053A20}" type="presParOf" srcId="{7A82D923-D841-D643-B18B-44A97136CD62}" destId="{8A3314FA-43BF-5C48-9532-F42A61C11FA1}" srcOrd="3" destOrd="0" presId="urn:microsoft.com/office/officeart/2005/8/layout/chevron2"/>
    <dgm:cxn modelId="{1CE4274C-2565-754B-B5A9-C2EF00B22722}" type="presParOf" srcId="{7A82D923-D841-D643-B18B-44A97136CD62}" destId="{626EFB22-F477-434D-B596-736D0EC3763F}" srcOrd="4" destOrd="0" presId="urn:microsoft.com/office/officeart/2005/8/layout/chevron2"/>
    <dgm:cxn modelId="{B44C5096-1339-3945-B92E-D5374346A223}" type="presParOf" srcId="{626EFB22-F477-434D-B596-736D0EC3763F}" destId="{304A7A43-B040-8644-8C06-9BBE0BCA80CD}" srcOrd="0" destOrd="0" presId="urn:microsoft.com/office/officeart/2005/8/layout/chevron2"/>
    <dgm:cxn modelId="{0CD1CB0F-266C-8A4D-A72D-0744813E38D1}" type="presParOf" srcId="{626EFB22-F477-434D-B596-736D0EC3763F}" destId="{6D4DD243-6ADC-5B42-A8DE-EC8A7BFE95B7}" srcOrd="1" destOrd="0" presId="urn:microsoft.com/office/officeart/2005/8/layout/chevron2"/>
    <dgm:cxn modelId="{E7BCE3C0-4BE4-0341-BA04-1F4C8B964FC3}" type="presParOf" srcId="{7A82D923-D841-D643-B18B-44A97136CD62}" destId="{739011CA-F27E-2748-969D-E84E069C3636}" srcOrd="5" destOrd="0" presId="urn:microsoft.com/office/officeart/2005/8/layout/chevron2"/>
    <dgm:cxn modelId="{1D56F302-63B9-F348-BF2C-A3874A7CF739}" type="presParOf" srcId="{7A82D923-D841-D643-B18B-44A97136CD62}" destId="{4ABBD1C2-0208-3349-9013-2A4197615EE8}" srcOrd="6" destOrd="0" presId="urn:microsoft.com/office/officeart/2005/8/layout/chevron2"/>
    <dgm:cxn modelId="{EAA6A526-A9C6-2F49-BFAF-7E027738EDD2}" type="presParOf" srcId="{4ABBD1C2-0208-3349-9013-2A4197615EE8}" destId="{C89591D5-FD1D-D746-8E91-0B092237554B}" srcOrd="0" destOrd="0" presId="urn:microsoft.com/office/officeart/2005/8/layout/chevron2"/>
    <dgm:cxn modelId="{7C7AF197-5FFE-9D4B-AF54-7D1AB3724788}" type="presParOf" srcId="{4ABBD1C2-0208-3349-9013-2A4197615EE8}" destId="{D94CD2AB-0536-D54D-87BD-C22FE83F8450}" srcOrd="1" destOrd="0" presId="urn:microsoft.com/office/officeart/2005/8/layout/chevron2"/>
    <dgm:cxn modelId="{50775BB2-9B3A-CA49-BF78-1DEA171D5BD5}" type="presParOf" srcId="{7A82D923-D841-D643-B18B-44A97136CD62}" destId="{F422AF1A-6DD7-7B42-AEFF-DB94D7DACBF2}" srcOrd="7" destOrd="0" presId="urn:microsoft.com/office/officeart/2005/8/layout/chevron2"/>
    <dgm:cxn modelId="{00420199-5385-6B4E-9A61-6E161AC4AFCB}" type="presParOf" srcId="{7A82D923-D841-D643-B18B-44A97136CD62}" destId="{848028D4-CB02-124B-A3E1-E68E5C8AFD82}" srcOrd="8" destOrd="0" presId="urn:microsoft.com/office/officeart/2005/8/layout/chevron2"/>
    <dgm:cxn modelId="{99DB2708-8AA9-1C47-A051-A122F6F92281}" type="presParOf" srcId="{848028D4-CB02-124B-A3E1-E68E5C8AFD82}" destId="{4BC4E4DB-3E01-BE4C-B56A-EE43BBFF77B6}" srcOrd="0" destOrd="0" presId="urn:microsoft.com/office/officeart/2005/8/layout/chevron2"/>
    <dgm:cxn modelId="{D68BC871-0091-E840-B877-06739923C6CC}" type="presParOf" srcId="{848028D4-CB02-124B-A3E1-E68E5C8AFD82}" destId="{4C957275-2392-D540-8B24-6667D6C36E61}" srcOrd="1" destOrd="0" presId="urn:microsoft.com/office/officeart/2005/8/layout/chevron2"/>
    <dgm:cxn modelId="{53D98C83-292B-6B42-9DB1-461B5FF636D3}" type="presParOf" srcId="{7A82D923-D841-D643-B18B-44A97136CD62}" destId="{E6F7B9D1-539D-2642-BDA0-9BFBAF6A9977}" srcOrd="9" destOrd="0" presId="urn:microsoft.com/office/officeart/2005/8/layout/chevron2"/>
    <dgm:cxn modelId="{7905416E-A2E8-E448-9FC6-27A5B5C6FA4B}" type="presParOf" srcId="{7A82D923-D841-D643-B18B-44A97136CD62}" destId="{86E1E685-9D94-0F41-B9B2-632F0D07DC1F}" srcOrd="10" destOrd="0" presId="urn:microsoft.com/office/officeart/2005/8/layout/chevron2"/>
    <dgm:cxn modelId="{F469DD8B-C808-4049-8DEA-FFD2606069B0}" type="presParOf" srcId="{86E1E685-9D94-0F41-B9B2-632F0D07DC1F}" destId="{2C136A54-5DC1-9E47-ABB6-DEAC55B5A7A5}" srcOrd="0" destOrd="0" presId="urn:microsoft.com/office/officeart/2005/8/layout/chevron2"/>
    <dgm:cxn modelId="{22E2DC53-7D35-9D40-AA19-C7ED0DCC455D}" type="presParOf" srcId="{86E1E685-9D94-0F41-B9B2-632F0D07DC1F}" destId="{2D87CE91-B64A-044E-9753-8B8F1F59624D}" srcOrd="1" destOrd="0" presId="urn:microsoft.com/office/officeart/2005/8/layout/chevron2"/>
    <dgm:cxn modelId="{94B99AF7-CED0-344C-A12B-FC30DE868BBC}" type="presParOf" srcId="{7A82D923-D841-D643-B18B-44A97136CD62}" destId="{9EF35D50-81BF-384C-BA09-15A825E9152B}" srcOrd="11" destOrd="0" presId="urn:microsoft.com/office/officeart/2005/8/layout/chevron2"/>
    <dgm:cxn modelId="{3076C24E-A757-F54F-B70A-AA197CC413CF}" type="presParOf" srcId="{7A82D923-D841-D643-B18B-44A97136CD62}" destId="{3E878FD5-492C-4148-BD80-F711A073410D}" srcOrd="12" destOrd="0" presId="urn:microsoft.com/office/officeart/2005/8/layout/chevron2"/>
    <dgm:cxn modelId="{8BB393D8-B860-144A-84BE-75BAD7F1D0F3}" type="presParOf" srcId="{3E878FD5-492C-4148-BD80-F711A073410D}" destId="{836B94D7-6A06-4848-9B36-D781423A1C4B}" srcOrd="0" destOrd="0" presId="urn:microsoft.com/office/officeart/2005/8/layout/chevron2"/>
    <dgm:cxn modelId="{E7D1902D-4C8D-6D44-9642-5E066BD19FFB}" type="presParOf" srcId="{3E878FD5-492C-4148-BD80-F711A073410D}" destId="{4DC00B7A-C47D-4C4F-8BCE-0702DA03F1C2}"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EA5EAC-2E86-9A4E-A389-AFCF770ED32D}">
      <dsp:nvSpPr>
        <dsp:cNvPr id="0" name=""/>
        <dsp:cNvSpPr/>
      </dsp:nvSpPr>
      <dsp:spPr>
        <a:xfrm rot="5400000">
          <a:off x="-103950" y="105170"/>
          <a:ext cx="693004" cy="485103"/>
        </a:xfrm>
        <a:prstGeom prst="chevron">
          <a:avLst/>
        </a:prstGeom>
        <a:gradFill rotWithShape="0">
          <a:gsLst>
            <a:gs pos="0">
              <a:schemeClr val="accent1">
                <a:hueOff val="0"/>
                <a:satOff val="0"/>
                <a:lumOff val="0"/>
                <a:alphaOff val="0"/>
                <a:tint val="70000"/>
                <a:lumMod val="110000"/>
              </a:schemeClr>
            </a:gs>
            <a:gs pos="100000">
              <a:schemeClr val="accent1">
                <a:hueOff val="0"/>
                <a:satOff val="0"/>
                <a:lumOff val="0"/>
                <a:alphaOff val="0"/>
                <a:tint val="82000"/>
                <a:alpha val="74000"/>
              </a:schemeClr>
            </a:gs>
          </a:gsLst>
          <a:lin ang="5400000" scaled="0"/>
        </a:gradFill>
        <a:ln w="9525" cap="rnd"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Reconnaissance</a:t>
          </a:r>
        </a:p>
      </dsp:txBody>
      <dsp:txXfrm rot="-5400000">
        <a:off x="1" y="243772"/>
        <a:ext cx="485103" cy="207901"/>
      </dsp:txXfrm>
    </dsp:sp>
    <dsp:sp modelId="{4B1456A9-1580-BE4A-8C25-F581F144D1B3}">
      <dsp:nvSpPr>
        <dsp:cNvPr id="0" name=""/>
        <dsp:cNvSpPr/>
      </dsp:nvSpPr>
      <dsp:spPr>
        <a:xfrm rot="5400000">
          <a:off x="5513853" y="-5027530"/>
          <a:ext cx="450452" cy="10507952"/>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Gather information on target using open source intelligence.</a:t>
          </a:r>
        </a:p>
        <a:p>
          <a:pPr marL="114300" lvl="1" indent="-114300" algn="l" defTabSz="533400">
            <a:lnSpc>
              <a:spcPct val="90000"/>
            </a:lnSpc>
            <a:spcBef>
              <a:spcPct val="0"/>
            </a:spcBef>
            <a:spcAft>
              <a:spcPct val="15000"/>
            </a:spcAft>
            <a:buChar char="•"/>
          </a:pPr>
          <a:r>
            <a:rPr lang="en-US" sz="1200" kern="1200" dirty="0"/>
            <a:t>Identify gaps and vulnerabilities available to exploit</a:t>
          </a:r>
        </a:p>
      </dsp:txBody>
      <dsp:txXfrm rot="-5400000">
        <a:off x="485104" y="23208"/>
        <a:ext cx="10485963" cy="406474"/>
      </dsp:txXfrm>
    </dsp:sp>
    <dsp:sp modelId="{EF1FCB80-2843-4445-BE3C-71B449C85F93}">
      <dsp:nvSpPr>
        <dsp:cNvPr id="0" name=""/>
        <dsp:cNvSpPr/>
      </dsp:nvSpPr>
      <dsp:spPr>
        <a:xfrm rot="5400000">
          <a:off x="-103950" y="712643"/>
          <a:ext cx="693004" cy="485103"/>
        </a:xfrm>
        <a:prstGeom prst="chevron">
          <a:avLst/>
        </a:prstGeom>
        <a:gradFill rotWithShape="0">
          <a:gsLst>
            <a:gs pos="0">
              <a:schemeClr val="accent1">
                <a:hueOff val="0"/>
                <a:satOff val="0"/>
                <a:lumOff val="0"/>
                <a:alphaOff val="0"/>
                <a:tint val="70000"/>
                <a:lumMod val="110000"/>
              </a:schemeClr>
            </a:gs>
            <a:gs pos="100000">
              <a:schemeClr val="accent1">
                <a:hueOff val="0"/>
                <a:satOff val="0"/>
                <a:lumOff val="0"/>
                <a:alphaOff val="0"/>
                <a:tint val="82000"/>
                <a:alpha val="74000"/>
              </a:schemeClr>
            </a:gs>
          </a:gsLst>
          <a:lin ang="5400000" scaled="0"/>
        </a:gradFill>
        <a:ln w="9525" cap="rnd"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Weaponization</a:t>
          </a:r>
        </a:p>
      </dsp:txBody>
      <dsp:txXfrm rot="-5400000">
        <a:off x="1" y="851245"/>
        <a:ext cx="485103" cy="207901"/>
      </dsp:txXfrm>
    </dsp:sp>
    <dsp:sp modelId="{C7FD5DDC-BA7F-F74A-8CE4-E6ED4C19CB4C}">
      <dsp:nvSpPr>
        <dsp:cNvPr id="0" name=""/>
        <dsp:cNvSpPr/>
      </dsp:nvSpPr>
      <dsp:spPr>
        <a:xfrm rot="5400000">
          <a:off x="5513853" y="-4420056"/>
          <a:ext cx="450452" cy="10507952"/>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Develop malware to deploy</a:t>
          </a:r>
        </a:p>
        <a:p>
          <a:pPr marL="114300" lvl="1" indent="-114300" algn="l" defTabSz="533400">
            <a:lnSpc>
              <a:spcPct val="90000"/>
            </a:lnSpc>
            <a:spcBef>
              <a:spcPct val="0"/>
            </a:spcBef>
            <a:spcAft>
              <a:spcPct val="15000"/>
            </a:spcAft>
            <a:buChar char="•"/>
          </a:pPr>
          <a:r>
            <a:rPr lang="en-US" sz="1200" kern="1200" dirty="0"/>
            <a:t>Create files or websites to exploit the known vulnerabilities</a:t>
          </a:r>
        </a:p>
      </dsp:txBody>
      <dsp:txXfrm rot="-5400000">
        <a:off x="485104" y="630682"/>
        <a:ext cx="10485963" cy="406474"/>
      </dsp:txXfrm>
    </dsp:sp>
    <dsp:sp modelId="{304A7A43-B040-8644-8C06-9BBE0BCA80CD}">
      <dsp:nvSpPr>
        <dsp:cNvPr id="0" name=""/>
        <dsp:cNvSpPr/>
      </dsp:nvSpPr>
      <dsp:spPr>
        <a:xfrm rot="5400000">
          <a:off x="-103950" y="1320117"/>
          <a:ext cx="693004" cy="485103"/>
        </a:xfrm>
        <a:prstGeom prst="chevron">
          <a:avLst/>
        </a:prstGeom>
        <a:gradFill rotWithShape="0">
          <a:gsLst>
            <a:gs pos="0">
              <a:schemeClr val="accent1">
                <a:hueOff val="0"/>
                <a:satOff val="0"/>
                <a:lumOff val="0"/>
                <a:alphaOff val="0"/>
                <a:tint val="70000"/>
                <a:lumMod val="110000"/>
              </a:schemeClr>
            </a:gs>
            <a:gs pos="100000">
              <a:schemeClr val="accent1">
                <a:hueOff val="0"/>
                <a:satOff val="0"/>
                <a:lumOff val="0"/>
                <a:alphaOff val="0"/>
                <a:tint val="82000"/>
                <a:alpha val="74000"/>
              </a:schemeClr>
            </a:gs>
          </a:gsLst>
          <a:lin ang="5400000" scaled="0"/>
        </a:gradFill>
        <a:ln w="9525" cap="rnd"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Delivery</a:t>
          </a:r>
        </a:p>
      </dsp:txBody>
      <dsp:txXfrm rot="-5400000">
        <a:off x="1" y="1458719"/>
        <a:ext cx="485103" cy="207901"/>
      </dsp:txXfrm>
    </dsp:sp>
    <dsp:sp modelId="{6D4DD243-6ADC-5B42-A8DE-EC8A7BFE95B7}">
      <dsp:nvSpPr>
        <dsp:cNvPr id="0" name=""/>
        <dsp:cNvSpPr/>
      </dsp:nvSpPr>
      <dsp:spPr>
        <a:xfrm rot="5400000">
          <a:off x="5513853" y="-3812583"/>
          <a:ext cx="450452" cy="10507952"/>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Send spear fishing emails or leverage other attacks such as watering hole </a:t>
          </a:r>
        </a:p>
        <a:p>
          <a:pPr marL="114300" lvl="1" indent="-114300" algn="l" defTabSz="533400">
            <a:lnSpc>
              <a:spcPct val="90000"/>
            </a:lnSpc>
            <a:spcBef>
              <a:spcPct val="0"/>
            </a:spcBef>
            <a:spcAft>
              <a:spcPct val="15000"/>
            </a:spcAft>
            <a:buChar char="•"/>
          </a:pPr>
          <a:r>
            <a:rPr lang="en-US" sz="1200" kern="1200" dirty="0"/>
            <a:t>Attach different malwares in the email and or other attacks</a:t>
          </a:r>
        </a:p>
      </dsp:txBody>
      <dsp:txXfrm rot="-5400000">
        <a:off x="485104" y="1238155"/>
        <a:ext cx="10485963" cy="406474"/>
      </dsp:txXfrm>
    </dsp:sp>
    <dsp:sp modelId="{C89591D5-FD1D-D746-8E91-0B092237554B}">
      <dsp:nvSpPr>
        <dsp:cNvPr id="0" name=""/>
        <dsp:cNvSpPr/>
      </dsp:nvSpPr>
      <dsp:spPr>
        <a:xfrm rot="5400000">
          <a:off x="-103950" y="1927590"/>
          <a:ext cx="693004" cy="485103"/>
        </a:xfrm>
        <a:prstGeom prst="chevron">
          <a:avLst/>
        </a:prstGeom>
        <a:gradFill rotWithShape="0">
          <a:gsLst>
            <a:gs pos="0">
              <a:schemeClr val="accent1">
                <a:hueOff val="0"/>
                <a:satOff val="0"/>
                <a:lumOff val="0"/>
                <a:alphaOff val="0"/>
                <a:tint val="70000"/>
                <a:lumMod val="110000"/>
              </a:schemeClr>
            </a:gs>
            <a:gs pos="100000">
              <a:schemeClr val="accent1">
                <a:hueOff val="0"/>
                <a:satOff val="0"/>
                <a:lumOff val="0"/>
                <a:alphaOff val="0"/>
                <a:tint val="82000"/>
                <a:alpha val="74000"/>
              </a:schemeClr>
            </a:gs>
          </a:gsLst>
          <a:lin ang="5400000" scaled="0"/>
        </a:gradFill>
        <a:ln w="9525" cap="rnd"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Exploitation</a:t>
          </a:r>
        </a:p>
      </dsp:txBody>
      <dsp:txXfrm rot="-5400000">
        <a:off x="1" y="2066192"/>
        <a:ext cx="485103" cy="207901"/>
      </dsp:txXfrm>
    </dsp:sp>
    <dsp:sp modelId="{D94CD2AB-0536-D54D-87BD-C22FE83F8450}">
      <dsp:nvSpPr>
        <dsp:cNvPr id="0" name=""/>
        <dsp:cNvSpPr/>
      </dsp:nvSpPr>
      <dsp:spPr>
        <a:xfrm rot="5400000">
          <a:off x="5513853" y="-3205109"/>
          <a:ext cx="450452" cy="10507952"/>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Use malware to exploit the workstation</a:t>
          </a:r>
        </a:p>
        <a:p>
          <a:pPr marL="114300" lvl="1" indent="-114300" algn="l" defTabSz="533400">
            <a:lnSpc>
              <a:spcPct val="90000"/>
            </a:lnSpc>
            <a:spcBef>
              <a:spcPct val="0"/>
            </a:spcBef>
            <a:spcAft>
              <a:spcPct val="15000"/>
            </a:spcAft>
            <a:buChar char="•"/>
          </a:pPr>
          <a:r>
            <a:rPr lang="en-US" sz="1200" kern="1200" dirty="0"/>
            <a:t>Leverage zero-day exploits to attack any unauthorized sources and or websites</a:t>
          </a:r>
        </a:p>
      </dsp:txBody>
      <dsp:txXfrm rot="-5400000">
        <a:off x="485104" y="1845629"/>
        <a:ext cx="10485963" cy="406474"/>
      </dsp:txXfrm>
    </dsp:sp>
    <dsp:sp modelId="{4BC4E4DB-3E01-BE4C-B56A-EE43BBFF77B6}">
      <dsp:nvSpPr>
        <dsp:cNvPr id="0" name=""/>
        <dsp:cNvSpPr/>
      </dsp:nvSpPr>
      <dsp:spPr>
        <a:xfrm rot="5400000">
          <a:off x="-103950" y="2535064"/>
          <a:ext cx="693004" cy="485103"/>
        </a:xfrm>
        <a:prstGeom prst="chevron">
          <a:avLst/>
        </a:prstGeom>
        <a:gradFill rotWithShape="0">
          <a:gsLst>
            <a:gs pos="0">
              <a:schemeClr val="accent1">
                <a:hueOff val="0"/>
                <a:satOff val="0"/>
                <a:lumOff val="0"/>
                <a:alphaOff val="0"/>
                <a:tint val="70000"/>
                <a:lumMod val="110000"/>
              </a:schemeClr>
            </a:gs>
            <a:gs pos="100000">
              <a:schemeClr val="accent1">
                <a:hueOff val="0"/>
                <a:satOff val="0"/>
                <a:lumOff val="0"/>
                <a:alphaOff val="0"/>
                <a:tint val="82000"/>
                <a:alpha val="74000"/>
              </a:schemeClr>
            </a:gs>
          </a:gsLst>
          <a:lin ang="5400000" scaled="0"/>
        </a:gradFill>
        <a:ln w="9525" cap="rnd"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Installation</a:t>
          </a:r>
        </a:p>
      </dsp:txBody>
      <dsp:txXfrm rot="-5400000">
        <a:off x="1" y="2673666"/>
        <a:ext cx="485103" cy="207901"/>
      </dsp:txXfrm>
    </dsp:sp>
    <dsp:sp modelId="{4C957275-2392-D540-8B24-6667D6C36E61}">
      <dsp:nvSpPr>
        <dsp:cNvPr id="0" name=""/>
        <dsp:cNvSpPr/>
      </dsp:nvSpPr>
      <dsp:spPr>
        <a:xfrm rot="5400000">
          <a:off x="5513853" y="-2597636"/>
          <a:ext cx="450452" cy="10507952"/>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Install all the malware that needs to be installed </a:t>
          </a:r>
          <a:r>
            <a:rPr lang="en-US" sz="1200" kern="1200" dirty="0" err="1"/>
            <a:t>i.e</a:t>
          </a:r>
          <a:r>
            <a:rPr lang="en-US" sz="1200" kern="1200" dirty="0"/>
            <a:t> backdoors or remote access tools</a:t>
          </a:r>
        </a:p>
        <a:p>
          <a:pPr marL="114300" lvl="1" indent="-114300" algn="l" defTabSz="533400">
            <a:lnSpc>
              <a:spcPct val="90000"/>
            </a:lnSpc>
            <a:spcBef>
              <a:spcPct val="0"/>
            </a:spcBef>
            <a:spcAft>
              <a:spcPct val="15000"/>
            </a:spcAft>
            <a:buChar char="•"/>
          </a:pPr>
          <a:r>
            <a:rPr lang="en-US" sz="1200" kern="1200" dirty="0"/>
            <a:t>Maintain access</a:t>
          </a:r>
        </a:p>
      </dsp:txBody>
      <dsp:txXfrm rot="-5400000">
        <a:off x="485104" y="2453102"/>
        <a:ext cx="10485963" cy="406474"/>
      </dsp:txXfrm>
    </dsp:sp>
    <dsp:sp modelId="{2C136A54-5DC1-9E47-ABB6-DEAC55B5A7A5}">
      <dsp:nvSpPr>
        <dsp:cNvPr id="0" name=""/>
        <dsp:cNvSpPr/>
      </dsp:nvSpPr>
      <dsp:spPr>
        <a:xfrm rot="5400000">
          <a:off x="-103950" y="3142538"/>
          <a:ext cx="693004" cy="485103"/>
        </a:xfrm>
        <a:prstGeom prst="chevron">
          <a:avLst/>
        </a:prstGeom>
        <a:gradFill rotWithShape="0">
          <a:gsLst>
            <a:gs pos="0">
              <a:schemeClr val="accent1">
                <a:hueOff val="0"/>
                <a:satOff val="0"/>
                <a:lumOff val="0"/>
                <a:alphaOff val="0"/>
                <a:tint val="70000"/>
                <a:lumMod val="110000"/>
              </a:schemeClr>
            </a:gs>
            <a:gs pos="100000">
              <a:schemeClr val="accent1">
                <a:hueOff val="0"/>
                <a:satOff val="0"/>
                <a:lumOff val="0"/>
                <a:alphaOff val="0"/>
                <a:tint val="82000"/>
                <a:alpha val="74000"/>
              </a:schemeClr>
            </a:gs>
          </a:gsLst>
          <a:lin ang="5400000" scaled="0"/>
        </a:gradFill>
        <a:ln w="9525" cap="rnd"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Command</a:t>
          </a:r>
          <a:r>
            <a:rPr lang="en-US" sz="500" kern="1200" baseline="0" dirty="0"/>
            <a:t> and Control</a:t>
          </a:r>
          <a:endParaRPr lang="en-US" sz="500" kern="1200" dirty="0"/>
        </a:p>
      </dsp:txBody>
      <dsp:txXfrm rot="-5400000">
        <a:off x="1" y="3281140"/>
        <a:ext cx="485103" cy="207901"/>
      </dsp:txXfrm>
    </dsp:sp>
    <dsp:sp modelId="{2D87CE91-B64A-044E-9753-8B8F1F59624D}">
      <dsp:nvSpPr>
        <dsp:cNvPr id="0" name=""/>
        <dsp:cNvSpPr/>
      </dsp:nvSpPr>
      <dsp:spPr>
        <a:xfrm rot="5400000">
          <a:off x="5513853" y="-1990162"/>
          <a:ext cx="450452" cy="10507952"/>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Establish a maintained connection </a:t>
          </a:r>
        </a:p>
        <a:p>
          <a:pPr marL="114300" lvl="1" indent="-114300" algn="l" defTabSz="533400">
            <a:lnSpc>
              <a:spcPct val="90000"/>
            </a:lnSpc>
            <a:spcBef>
              <a:spcPct val="0"/>
            </a:spcBef>
            <a:spcAft>
              <a:spcPct val="15000"/>
            </a:spcAft>
            <a:buChar char="•"/>
          </a:pPr>
          <a:r>
            <a:rPr lang="en-US" sz="1200" kern="1200" dirty="0"/>
            <a:t>Use encryption to maintain malicious traffic</a:t>
          </a:r>
        </a:p>
      </dsp:txBody>
      <dsp:txXfrm rot="-5400000">
        <a:off x="485104" y="3060576"/>
        <a:ext cx="10485963" cy="406474"/>
      </dsp:txXfrm>
    </dsp:sp>
    <dsp:sp modelId="{836B94D7-6A06-4848-9B36-D781423A1C4B}">
      <dsp:nvSpPr>
        <dsp:cNvPr id="0" name=""/>
        <dsp:cNvSpPr/>
      </dsp:nvSpPr>
      <dsp:spPr>
        <a:xfrm rot="5400000">
          <a:off x="-103950" y="3750011"/>
          <a:ext cx="693004" cy="485103"/>
        </a:xfrm>
        <a:prstGeom prst="chevron">
          <a:avLst/>
        </a:prstGeom>
        <a:gradFill rotWithShape="0">
          <a:gsLst>
            <a:gs pos="0">
              <a:schemeClr val="accent1">
                <a:hueOff val="0"/>
                <a:satOff val="0"/>
                <a:lumOff val="0"/>
                <a:alphaOff val="0"/>
                <a:tint val="70000"/>
                <a:lumMod val="110000"/>
              </a:schemeClr>
            </a:gs>
            <a:gs pos="100000">
              <a:schemeClr val="accent1">
                <a:hueOff val="0"/>
                <a:satOff val="0"/>
                <a:lumOff val="0"/>
                <a:alphaOff val="0"/>
                <a:tint val="82000"/>
                <a:alpha val="74000"/>
              </a:schemeClr>
            </a:gs>
          </a:gsLst>
          <a:lin ang="5400000" scaled="0"/>
        </a:gradFill>
        <a:ln w="9525" cap="rnd" cmpd="sng" algn="ctr">
          <a:solidFill>
            <a:schemeClr val="accent1">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3175" tIns="3175" rIns="3175" bIns="3175" numCol="1" spcCol="1270" anchor="ctr" anchorCtr="0">
          <a:noAutofit/>
        </a:bodyPr>
        <a:lstStyle/>
        <a:p>
          <a:pPr marL="0" lvl="0" indent="0" algn="ctr" defTabSz="222250">
            <a:lnSpc>
              <a:spcPct val="90000"/>
            </a:lnSpc>
            <a:spcBef>
              <a:spcPct val="0"/>
            </a:spcBef>
            <a:spcAft>
              <a:spcPct val="35000"/>
            </a:spcAft>
            <a:buNone/>
          </a:pPr>
          <a:r>
            <a:rPr lang="en-US" sz="500" kern="1200" dirty="0"/>
            <a:t>Action and Objective</a:t>
          </a:r>
        </a:p>
      </dsp:txBody>
      <dsp:txXfrm rot="-5400000">
        <a:off x="1" y="3888613"/>
        <a:ext cx="485103" cy="207901"/>
      </dsp:txXfrm>
    </dsp:sp>
    <dsp:sp modelId="{4DC00B7A-C47D-4C4F-8BCE-0702DA03F1C2}">
      <dsp:nvSpPr>
        <dsp:cNvPr id="0" name=""/>
        <dsp:cNvSpPr/>
      </dsp:nvSpPr>
      <dsp:spPr>
        <a:xfrm rot="5400000">
          <a:off x="5513853" y="-1382689"/>
          <a:ext cx="450452" cy="10507952"/>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Steal sensitive data and or disrupt any current workflows</a:t>
          </a:r>
        </a:p>
        <a:p>
          <a:pPr marL="114300" lvl="1" indent="-114300" algn="l" defTabSz="533400">
            <a:lnSpc>
              <a:spcPct val="90000"/>
            </a:lnSpc>
            <a:spcBef>
              <a:spcPct val="0"/>
            </a:spcBef>
            <a:spcAft>
              <a:spcPct val="15000"/>
            </a:spcAft>
            <a:buChar char="•"/>
          </a:pPr>
          <a:r>
            <a:rPr lang="en-US" sz="1200" kern="1200" dirty="0"/>
            <a:t>Maintain access to logs and or systems to ensure proper information is being retrieved.</a:t>
          </a:r>
        </a:p>
      </dsp:txBody>
      <dsp:txXfrm rot="-5400000">
        <a:off x="485104" y="3668049"/>
        <a:ext cx="10485963" cy="406474"/>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B89BAD-930B-FC4F-8B5F-7077E735EE02}" type="datetimeFigureOut">
              <a:rPr lang="en-US" smtClean="0"/>
              <a:t>9/29/24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7A7CB5-21E9-7F49-AD9B-51CC931E592D}" type="slidenum">
              <a:rPr lang="en-US" smtClean="0"/>
              <a:t>‹#›</a:t>
            </a:fld>
            <a:endParaRPr lang="en-US"/>
          </a:p>
        </p:txBody>
      </p:sp>
    </p:spTree>
    <p:extLst>
      <p:ext uri="{BB962C8B-B14F-4D97-AF65-F5344CB8AC3E}">
        <p14:creationId xmlns:p14="http://schemas.microsoft.com/office/powerpoint/2010/main" val="119844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406381C7-14B6-B54C-80B7-4EBFBDD56EF6}" type="datetime1">
              <a:rPr lang="en-US" smtClean="0"/>
              <a:t>9/29/24</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CD279C-58F2-D444-88D4-1F7202593D33}" type="datetime1">
              <a:rPr lang="en-US" smtClean="0"/>
              <a:t>9/29/24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F3FC8-D6EC-034A-8DEC-C2825AC10FD4}" type="datetime1">
              <a:rPr lang="en-US" smtClean="0"/>
              <a:t>9/29/24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95FC95-EF3F-D349-A19C-A12D22A7515C}" type="datetime1">
              <a:rPr lang="en-US" smtClean="0"/>
              <a:t>9/29/24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31187F-145A-784A-9F94-EB32899F6CC2}" type="datetime1">
              <a:rPr lang="en-US" smtClean="0"/>
              <a:t>9/29/24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5A0D8A-54C0-1548-8A22-8044C79E2985}" type="datetime1">
              <a:rPr lang="en-US" smtClean="0"/>
              <a:t>9/29/24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64D5557B-110A-2647-969E-EA54841E9FF6}" type="datetime1">
              <a:rPr lang="en-US" smtClean="0"/>
              <a:t>9/29/24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5ABE35-7D96-BE4F-B8BF-B6F65E9EBB9A}" type="datetime1">
              <a:rPr lang="en-US" smtClean="0"/>
              <a:t>9/29/24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841788-5322-464A-834C-7459A87AA56C}" type="datetime1">
              <a:rPr lang="en-US" smtClean="0"/>
              <a:t>9/29/24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F10B36-32DB-8646-809B-90A8E628880E}" type="datetime1">
              <a:rPr lang="en-US" smtClean="0"/>
              <a:t>9/29/24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230885-4B2B-5248-B29A-65DEBABECE7F}" type="datetime1">
              <a:rPr lang="en-US" smtClean="0"/>
              <a:t>9/29/24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0D0AB6-B403-7B4A-9D98-A7A83CF9CC9C}" type="datetime1">
              <a:rPr lang="en-US" smtClean="0"/>
              <a:t>9/29/24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98CB2-E4CA-0B4C-BFA4-D8BCF673765D}" type="datetime1">
              <a:rPr lang="en-US" smtClean="0"/>
              <a:t>9/29/24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88AF68-DBAF-6944-8D81-72647E651ABA}" type="datetime1">
              <a:rPr lang="en-US" smtClean="0"/>
              <a:t>9/29/24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A774CB-50AF-7746-8116-52EEA7A3840B}" type="datetime1">
              <a:rPr lang="en-US" smtClean="0"/>
              <a:t>9/29/24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213B7-FE40-2242-8016-738B1C2AD462}" type="datetime1">
              <a:rPr lang="en-US" smtClean="0"/>
              <a:t>9/29/24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D1AA7D-948B-154A-9E38-10B0C74A8F79}" type="datetime1">
              <a:rPr lang="en-US" smtClean="0"/>
              <a:t>9/29/24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D6D8DA6-3C4C-BB49-BFC7-A005705816D3}" type="datetime1">
              <a:rPr lang="en-US" smtClean="0"/>
              <a:t>9/29/24</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8543E-5339-D0A3-E738-4D7A20B95279}"/>
              </a:ext>
            </a:extLst>
          </p:cNvPr>
          <p:cNvSpPr>
            <a:spLocks noGrp="1"/>
          </p:cNvSpPr>
          <p:nvPr>
            <p:ph type="ctrTitle"/>
          </p:nvPr>
        </p:nvSpPr>
        <p:spPr/>
        <p:txBody>
          <a:bodyPr/>
          <a:lstStyle/>
          <a:p>
            <a:r>
              <a:rPr lang="en-US" dirty="0"/>
              <a:t>Apt 28 – Fancy bear</a:t>
            </a:r>
          </a:p>
        </p:txBody>
      </p:sp>
      <p:sp>
        <p:nvSpPr>
          <p:cNvPr id="3" name="Subtitle 2">
            <a:extLst>
              <a:ext uri="{FF2B5EF4-FFF2-40B4-BE49-F238E27FC236}">
                <a16:creationId xmlns:a16="http://schemas.microsoft.com/office/drawing/2014/main" id="{D26E451A-822D-8B98-35F8-1FE73644FBE3}"/>
              </a:ext>
            </a:extLst>
          </p:cNvPr>
          <p:cNvSpPr>
            <a:spLocks noGrp="1"/>
          </p:cNvSpPr>
          <p:nvPr>
            <p:ph type="subTitle" idx="1"/>
          </p:nvPr>
        </p:nvSpPr>
        <p:spPr/>
        <p:txBody>
          <a:bodyPr/>
          <a:lstStyle/>
          <a:p>
            <a:r>
              <a:rPr lang="en-US" dirty="0"/>
              <a:t>Arhum </a:t>
            </a:r>
            <a:r>
              <a:rPr lang="en-US" dirty="0" err="1"/>
              <a:t>zahid</a:t>
            </a:r>
            <a:endParaRPr lang="en-US" dirty="0"/>
          </a:p>
        </p:txBody>
      </p:sp>
    </p:spTree>
    <p:extLst>
      <p:ext uri="{BB962C8B-B14F-4D97-AF65-F5344CB8AC3E}">
        <p14:creationId xmlns:p14="http://schemas.microsoft.com/office/powerpoint/2010/main" val="1205195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2D35F-E3E5-C53C-DEEE-9B09DB3B771F}"/>
              </a:ext>
            </a:extLst>
          </p:cNvPr>
          <p:cNvSpPr>
            <a:spLocks noGrp="1"/>
          </p:cNvSpPr>
          <p:nvPr>
            <p:ph type="title"/>
          </p:nvPr>
        </p:nvSpPr>
        <p:spPr/>
        <p:txBody>
          <a:bodyPr/>
          <a:lstStyle/>
          <a:p>
            <a:r>
              <a:rPr lang="en-US" dirty="0"/>
              <a:t>Adversaries/Victims</a:t>
            </a:r>
          </a:p>
        </p:txBody>
      </p:sp>
      <p:sp>
        <p:nvSpPr>
          <p:cNvPr id="3" name="Content Placeholder 2">
            <a:extLst>
              <a:ext uri="{FF2B5EF4-FFF2-40B4-BE49-F238E27FC236}">
                <a16:creationId xmlns:a16="http://schemas.microsoft.com/office/drawing/2014/main" id="{12C55BF0-2149-EFED-EBD7-C3255321B7FA}"/>
              </a:ext>
            </a:extLst>
          </p:cNvPr>
          <p:cNvSpPr>
            <a:spLocks noGrp="1"/>
          </p:cNvSpPr>
          <p:nvPr>
            <p:ph idx="1"/>
          </p:nvPr>
        </p:nvSpPr>
        <p:spPr>
          <a:xfrm>
            <a:off x="685801" y="2142067"/>
            <a:ext cx="10131425" cy="3649133"/>
          </a:xfrm>
        </p:spPr>
        <p:txBody>
          <a:bodyPr/>
          <a:lstStyle/>
          <a:p>
            <a:r>
              <a:rPr lang="en-US" dirty="0"/>
              <a:t>Adversaries: APT 28 is linked to the Russian Military intelligence, as a result they have goals that are often related to political positions as well as gaining influence.</a:t>
            </a:r>
          </a:p>
          <a:p>
            <a:r>
              <a:rPr lang="en-US" dirty="0"/>
              <a:t>Victims: History shows that they have targeted many government bodies, NATO allies, defensive operations, media, and often times we can see that these attacks are centralized towards the U.S. and or Europe.</a:t>
            </a:r>
          </a:p>
        </p:txBody>
      </p:sp>
    </p:spTree>
    <p:extLst>
      <p:ext uri="{BB962C8B-B14F-4D97-AF65-F5344CB8AC3E}">
        <p14:creationId xmlns:p14="http://schemas.microsoft.com/office/powerpoint/2010/main" val="913050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0D3E0-8659-7E18-814F-4EE5E8C75F11}"/>
              </a:ext>
            </a:extLst>
          </p:cNvPr>
          <p:cNvSpPr>
            <a:spLocks noGrp="1"/>
          </p:cNvSpPr>
          <p:nvPr>
            <p:ph type="title"/>
          </p:nvPr>
        </p:nvSpPr>
        <p:spPr/>
        <p:txBody>
          <a:bodyPr/>
          <a:lstStyle/>
          <a:p>
            <a:r>
              <a:rPr lang="en-US" dirty="0"/>
              <a:t>Capabilities/</a:t>
            </a:r>
            <a:r>
              <a:rPr lang="en-US" dirty="0" err="1"/>
              <a:t>infrastruture</a:t>
            </a:r>
            <a:endParaRPr lang="en-US" dirty="0"/>
          </a:p>
        </p:txBody>
      </p:sp>
      <p:sp>
        <p:nvSpPr>
          <p:cNvPr id="3" name="Content Placeholder 2">
            <a:extLst>
              <a:ext uri="{FF2B5EF4-FFF2-40B4-BE49-F238E27FC236}">
                <a16:creationId xmlns:a16="http://schemas.microsoft.com/office/drawing/2014/main" id="{CFA033F8-2C9A-A692-38D5-5CC7912B1F59}"/>
              </a:ext>
            </a:extLst>
          </p:cNvPr>
          <p:cNvSpPr>
            <a:spLocks noGrp="1"/>
          </p:cNvSpPr>
          <p:nvPr>
            <p:ph idx="1"/>
          </p:nvPr>
        </p:nvSpPr>
        <p:spPr/>
        <p:txBody>
          <a:bodyPr/>
          <a:lstStyle/>
          <a:p>
            <a:r>
              <a:rPr lang="en-US" dirty="0"/>
              <a:t>Infrastructure: </a:t>
            </a:r>
            <a:r>
              <a:rPr lang="en-US" dirty="0" err="1"/>
              <a:t>Levarage</a:t>
            </a:r>
            <a:r>
              <a:rPr lang="en-US" dirty="0"/>
              <a:t> different methodologies but often we can see attacks like watering hole attacks, and spear fishing. By using different set of domains that can play and act as services that many people often use they are able to fulfill their malware and attacks onto the services/networks they need.</a:t>
            </a:r>
          </a:p>
          <a:p>
            <a:r>
              <a:rPr lang="en-US" dirty="0"/>
              <a:t>Capability: Malware tools like X-Tunnel, X-Agent with a mix of spear fishing and water hole attacks and zero day exploits help with their capabilities. </a:t>
            </a:r>
          </a:p>
        </p:txBody>
      </p:sp>
    </p:spTree>
    <p:extLst>
      <p:ext uri="{BB962C8B-B14F-4D97-AF65-F5344CB8AC3E}">
        <p14:creationId xmlns:p14="http://schemas.microsoft.com/office/powerpoint/2010/main" val="86114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48D8C-54A7-AF3D-57BC-42B3D69CA0C7}"/>
              </a:ext>
            </a:extLst>
          </p:cNvPr>
          <p:cNvSpPr>
            <a:spLocks noGrp="1"/>
          </p:cNvSpPr>
          <p:nvPr>
            <p:ph type="title"/>
          </p:nvPr>
        </p:nvSpPr>
        <p:spPr/>
        <p:txBody>
          <a:bodyPr/>
          <a:lstStyle/>
          <a:p>
            <a:r>
              <a:rPr lang="en-US" dirty="0"/>
              <a:t>Diamond model of intrusion analysis</a:t>
            </a:r>
          </a:p>
        </p:txBody>
      </p:sp>
      <p:sp>
        <p:nvSpPr>
          <p:cNvPr id="4" name="Diamond 3">
            <a:extLst>
              <a:ext uri="{FF2B5EF4-FFF2-40B4-BE49-F238E27FC236}">
                <a16:creationId xmlns:a16="http://schemas.microsoft.com/office/drawing/2014/main" id="{44F1C5DD-CD28-9F34-8CCB-79F58BF3BD7F}"/>
              </a:ext>
            </a:extLst>
          </p:cNvPr>
          <p:cNvSpPr/>
          <p:nvPr/>
        </p:nvSpPr>
        <p:spPr>
          <a:xfrm>
            <a:off x="4919241" y="2627453"/>
            <a:ext cx="1759351" cy="2754775"/>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5BFBB9C-1766-9B9A-3965-4B245631E227}"/>
              </a:ext>
            </a:extLst>
          </p:cNvPr>
          <p:cNvSpPr txBox="1"/>
          <p:nvPr/>
        </p:nvSpPr>
        <p:spPr>
          <a:xfrm>
            <a:off x="7327252" y="3155256"/>
            <a:ext cx="3287486" cy="1754326"/>
          </a:xfrm>
          <a:prstGeom prst="rect">
            <a:avLst/>
          </a:prstGeom>
          <a:noFill/>
        </p:spPr>
        <p:txBody>
          <a:bodyPr wrap="square" rtlCol="0">
            <a:spAutoFit/>
          </a:bodyPr>
          <a:lstStyle/>
          <a:p>
            <a:r>
              <a:rPr lang="en-US" dirty="0"/>
              <a:t>Infrastructure: </a:t>
            </a:r>
          </a:p>
          <a:p>
            <a:r>
              <a:rPr lang="en-US" dirty="0" err="1"/>
              <a:t>hxxp</a:t>
            </a:r>
            <a:r>
              <a:rPr lang="en-US" dirty="0"/>
              <a:t>://</a:t>
            </a:r>
            <a:r>
              <a:rPr lang="en-US" dirty="0" err="1"/>
              <a:t>yovtube</a:t>
            </a:r>
            <a:r>
              <a:rPr lang="en-US" dirty="0"/>
              <a:t>[dot]co</a:t>
            </a:r>
            <a:br>
              <a:rPr lang="en-US" dirty="0"/>
            </a:br>
            <a:r>
              <a:rPr lang="en-US" dirty="0" err="1"/>
              <a:t>hxxp</a:t>
            </a:r>
            <a:r>
              <a:rPr lang="en-US" dirty="0"/>
              <a:t>://</a:t>
            </a:r>
            <a:r>
              <a:rPr lang="en-US" dirty="0" err="1"/>
              <a:t>defenceiq</a:t>
            </a:r>
            <a:r>
              <a:rPr lang="en-US" dirty="0"/>
              <a:t>[dot]us</a:t>
            </a:r>
          </a:p>
          <a:p>
            <a:r>
              <a:rPr lang="en-US" dirty="0"/>
              <a:t>- Servers set up host payloads with fake news to gather info through compromised servers</a:t>
            </a:r>
          </a:p>
        </p:txBody>
      </p:sp>
      <p:sp>
        <p:nvSpPr>
          <p:cNvPr id="8" name="TextBox 7">
            <a:extLst>
              <a:ext uri="{FF2B5EF4-FFF2-40B4-BE49-F238E27FC236}">
                <a16:creationId xmlns:a16="http://schemas.microsoft.com/office/drawing/2014/main" id="{E00C6AAF-3F7A-0EA4-E801-C7DAA641906B}"/>
              </a:ext>
            </a:extLst>
          </p:cNvPr>
          <p:cNvSpPr txBox="1"/>
          <p:nvPr/>
        </p:nvSpPr>
        <p:spPr>
          <a:xfrm>
            <a:off x="4467828" y="1611483"/>
            <a:ext cx="3453947" cy="1200329"/>
          </a:xfrm>
          <a:prstGeom prst="rect">
            <a:avLst/>
          </a:prstGeom>
          <a:noFill/>
        </p:spPr>
        <p:txBody>
          <a:bodyPr wrap="square" rtlCol="0">
            <a:spAutoFit/>
          </a:bodyPr>
          <a:lstStyle/>
          <a:p>
            <a:r>
              <a:rPr lang="en-US" dirty="0"/>
              <a:t>Adversary: Location: Russia</a:t>
            </a:r>
          </a:p>
          <a:p>
            <a:r>
              <a:rPr lang="en-US" dirty="0"/>
              <a:t>Names: Fancy Bear</a:t>
            </a:r>
          </a:p>
          <a:p>
            <a:r>
              <a:rPr lang="en-US" dirty="0"/>
              <a:t>Attacks: Spear Fishing/CHOPSTICKS//Waterhole</a:t>
            </a:r>
          </a:p>
        </p:txBody>
      </p:sp>
      <p:sp>
        <p:nvSpPr>
          <p:cNvPr id="9" name="TextBox 8">
            <a:extLst>
              <a:ext uri="{FF2B5EF4-FFF2-40B4-BE49-F238E27FC236}">
                <a16:creationId xmlns:a16="http://schemas.microsoft.com/office/drawing/2014/main" id="{71402DAC-1464-6E3A-3FD4-6FDA302C69F1}"/>
              </a:ext>
            </a:extLst>
          </p:cNvPr>
          <p:cNvSpPr txBox="1"/>
          <p:nvPr/>
        </p:nvSpPr>
        <p:spPr>
          <a:xfrm>
            <a:off x="1792774" y="3064773"/>
            <a:ext cx="2612571" cy="1477328"/>
          </a:xfrm>
          <a:prstGeom prst="rect">
            <a:avLst/>
          </a:prstGeom>
          <a:noFill/>
        </p:spPr>
        <p:txBody>
          <a:bodyPr wrap="square" rtlCol="0">
            <a:spAutoFit/>
          </a:bodyPr>
          <a:lstStyle/>
          <a:p>
            <a:r>
              <a:rPr lang="en-US" dirty="0"/>
              <a:t>Capabilities:</a:t>
            </a:r>
            <a:br>
              <a:rPr lang="en-US" dirty="0"/>
            </a:br>
            <a:r>
              <a:rPr lang="en-US" dirty="0"/>
              <a:t>- X-Agent</a:t>
            </a:r>
          </a:p>
          <a:p>
            <a:r>
              <a:rPr lang="en-US" dirty="0"/>
              <a:t>-X-Tunnel</a:t>
            </a:r>
          </a:p>
          <a:p>
            <a:r>
              <a:rPr lang="en-US" dirty="0"/>
              <a:t>Spear Fishing</a:t>
            </a:r>
          </a:p>
          <a:p>
            <a:r>
              <a:rPr lang="en-US" dirty="0"/>
              <a:t>C2 Servers</a:t>
            </a:r>
          </a:p>
        </p:txBody>
      </p:sp>
      <p:sp>
        <p:nvSpPr>
          <p:cNvPr id="10" name="TextBox 9">
            <a:extLst>
              <a:ext uri="{FF2B5EF4-FFF2-40B4-BE49-F238E27FC236}">
                <a16:creationId xmlns:a16="http://schemas.microsoft.com/office/drawing/2014/main" id="{DE4F1C3B-5271-4336-E002-3B4820C97BC2}"/>
              </a:ext>
            </a:extLst>
          </p:cNvPr>
          <p:cNvSpPr txBox="1"/>
          <p:nvPr/>
        </p:nvSpPr>
        <p:spPr>
          <a:xfrm>
            <a:off x="4439168" y="4894676"/>
            <a:ext cx="2374188" cy="2031325"/>
          </a:xfrm>
          <a:prstGeom prst="rect">
            <a:avLst/>
          </a:prstGeom>
          <a:noFill/>
        </p:spPr>
        <p:txBody>
          <a:bodyPr wrap="square" rtlCol="0">
            <a:spAutoFit/>
          </a:bodyPr>
          <a:lstStyle/>
          <a:p>
            <a:r>
              <a:rPr lang="en-US" dirty="0"/>
              <a:t>Victim: </a:t>
            </a:r>
            <a:br>
              <a:rPr lang="en-US" dirty="0"/>
            </a:br>
            <a:r>
              <a:rPr lang="en-US" dirty="0"/>
              <a:t>US</a:t>
            </a:r>
            <a:br>
              <a:rPr lang="en-US" dirty="0"/>
            </a:br>
            <a:r>
              <a:rPr lang="en-US" dirty="0"/>
              <a:t>NATO</a:t>
            </a:r>
            <a:br>
              <a:rPr lang="en-US" dirty="0"/>
            </a:br>
            <a:r>
              <a:rPr lang="en-US" dirty="0"/>
              <a:t>European Nations</a:t>
            </a:r>
            <a:br>
              <a:rPr lang="en-US" dirty="0"/>
            </a:br>
            <a:r>
              <a:rPr lang="en-US" dirty="0"/>
              <a:t>EX: DNC Hack in 2016 and German </a:t>
            </a:r>
            <a:r>
              <a:rPr lang="en-US" dirty="0" err="1"/>
              <a:t>Bundstag</a:t>
            </a:r>
            <a:r>
              <a:rPr lang="en-US" dirty="0"/>
              <a:t> Hack</a:t>
            </a:r>
          </a:p>
        </p:txBody>
      </p:sp>
    </p:spTree>
    <p:extLst>
      <p:ext uri="{BB962C8B-B14F-4D97-AF65-F5344CB8AC3E}">
        <p14:creationId xmlns:p14="http://schemas.microsoft.com/office/powerpoint/2010/main" val="1723677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99B10-B7F5-30FD-AB4B-D71DA0063886}"/>
              </a:ext>
            </a:extLst>
          </p:cNvPr>
          <p:cNvSpPr>
            <a:spLocks noGrp="1"/>
          </p:cNvSpPr>
          <p:nvPr>
            <p:ph type="title"/>
          </p:nvPr>
        </p:nvSpPr>
        <p:spPr/>
        <p:txBody>
          <a:bodyPr/>
          <a:lstStyle/>
          <a:p>
            <a:r>
              <a:rPr lang="en-US" dirty="0"/>
              <a:t>Apt 28 kill chain</a:t>
            </a:r>
          </a:p>
        </p:txBody>
      </p:sp>
      <p:graphicFrame>
        <p:nvGraphicFramePr>
          <p:cNvPr id="4" name="Content Placeholder 3">
            <a:extLst>
              <a:ext uri="{FF2B5EF4-FFF2-40B4-BE49-F238E27FC236}">
                <a16:creationId xmlns:a16="http://schemas.microsoft.com/office/drawing/2014/main" id="{B4A4B1A2-438D-BDF2-207E-0C929A85FD2A}"/>
              </a:ext>
            </a:extLst>
          </p:cNvPr>
          <p:cNvGraphicFramePr>
            <a:graphicFrameLocks noGrp="1"/>
          </p:cNvGraphicFramePr>
          <p:nvPr>
            <p:ph idx="1"/>
            <p:extLst>
              <p:ext uri="{D42A27DB-BD31-4B8C-83A1-F6EECF244321}">
                <p14:modId xmlns:p14="http://schemas.microsoft.com/office/powerpoint/2010/main" val="721463406"/>
              </p:ext>
            </p:extLst>
          </p:nvPr>
        </p:nvGraphicFramePr>
        <p:xfrm>
          <a:off x="685800" y="2141537"/>
          <a:ext cx="10993056" cy="4340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3853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AC15D-0D53-B4CF-3734-3DE98A5FD72F}"/>
              </a:ext>
            </a:extLst>
          </p:cNvPr>
          <p:cNvSpPr>
            <a:spLocks noGrp="1"/>
          </p:cNvSpPr>
          <p:nvPr>
            <p:ph type="title"/>
          </p:nvPr>
        </p:nvSpPr>
        <p:spPr/>
        <p:txBody>
          <a:bodyPr/>
          <a:lstStyle/>
          <a:p>
            <a:r>
              <a:rPr lang="en-US" dirty="0"/>
              <a:t>Citations</a:t>
            </a:r>
          </a:p>
        </p:txBody>
      </p:sp>
      <p:sp>
        <p:nvSpPr>
          <p:cNvPr id="3" name="Content Placeholder 2">
            <a:extLst>
              <a:ext uri="{FF2B5EF4-FFF2-40B4-BE49-F238E27FC236}">
                <a16:creationId xmlns:a16="http://schemas.microsoft.com/office/drawing/2014/main" id="{7E3FFA1F-3C14-B597-5238-DD0F2FF47A8A}"/>
              </a:ext>
            </a:extLst>
          </p:cNvPr>
          <p:cNvSpPr>
            <a:spLocks noGrp="1"/>
          </p:cNvSpPr>
          <p:nvPr>
            <p:ph idx="1"/>
          </p:nvPr>
        </p:nvSpPr>
        <p:spPr/>
        <p:txBody>
          <a:bodyPr>
            <a:normAutofit fontScale="92500" lnSpcReduction="10000"/>
          </a:bodyPr>
          <a:lstStyle/>
          <a:p>
            <a:pPr marL="0" indent="0">
              <a:buNone/>
            </a:pPr>
            <a:endParaRPr lang="en-US" dirty="0"/>
          </a:p>
          <a:p>
            <a:r>
              <a:rPr lang="en-US" dirty="0"/>
              <a:t>1. **CrowdStrike**. (2020). *Global Threat Report 2020*.  </a:t>
            </a:r>
          </a:p>
          <a:p>
            <a:r>
              <a:rPr lang="en-US" dirty="0"/>
              <a:t>   [CrowdStrike Threat Reports](https://</a:t>
            </a:r>
            <a:r>
              <a:rPr lang="en-US" dirty="0" err="1"/>
              <a:t>www.crowdstrike.com</a:t>
            </a:r>
            <a:r>
              <a:rPr lang="en-US" dirty="0"/>
              <a:t>/resources/reports/)</a:t>
            </a:r>
          </a:p>
          <a:p>
            <a:r>
              <a:rPr lang="en-US" dirty="0"/>
              <a:t>2. **FireEye**. (2019). *APT28 Activity Report: Targeting European and U.S. Institutions*.  </a:t>
            </a:r>
          </a:p>
          <a:p>
            <a:r>
              <a:rPr lang="en-US" dirty="0"/>
              <a:t>   [FireEye Threat Intelligence Reports](https://</a:t>
            </a:r>
            <a:r>
              <a:rPr lang="en-US" dirty="0" err="1"/>
              <a:t>www.fireeye.com</a:t>
            </a:r>
            <a:r>
              <a:rPr lang="en-US" dirty="0"/>
              <a:t>/current-threats/threat-intelligence-</a:t>
            </a:r>
            <a:r>
              <a:rPr lang="en-US" dirty="0" err="1"/>
              <a:t>reports.html</a:t>
            </a:r>
            <a:r>
              <a:rPr lang="en-US" dirty="0"/>
              <a:t>)</a:t>
            </a:r>
          </a:p>
          <a:p>
            <a:r>
              <a:rPr lang="en-US" dirty="0"/>
              <a:t>3. **Palo Alto Networks Unit 42**. (2021). *APT28 Technical Analysis: APT Attack Strategies and Tools*.  </a:t>
            </a:r>
          </a:p>
          <a:p>
            <a:r>
              <a:rPr lang="en-US" dirty="0"/>
              <a:t>   [Unit 42 Threat Intelligence](https://unit42.paloaltonetworks.com/)</a:t>
            </a:r>
          </a:p>
          <a:p>
            <a:r>
              <a:rPr lang="en-US" dirty="0"/>
              <a:t>4. **MITRE ATT&amp;CK**. (n.d.). *APT28 - Tactics, Techniques, and Procedures (TTPs)*.  </a:t>
            </a:r>
          </a:p>
          <a:p>
            <a:r>
              <a:rPr lang="en-US" dirty="0"/>
              <a:t>   [MITRE ATT&amp;CK - APT28](https://</a:t>
            </a:r>
            <a:r>
              <a:rPr lang="en-US" dirty="0" err="1"/>
              <a:t>attack.mitre.org</a:t>
            </a:r>
            <a:r>
              <a:rPr lang="en-US" dirty="0"/>
              <a:t>/groups/G0007/)</a:t>
            </a:r>
          </a:p>
        </p:txBody>
      </p:sp>
    </p:spTree>
    <p:extLst>
      <p:ext uri="{BB962C8B-B14F-4D97-AF65-F5344CB8AC3E}">
        <p14:creationId xmlns:p14="http://schemas.microsoft.com/office/powerpoint/2010/main" val="11913919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Celestial</Template>
  <TotalTime>78</TotalTime>
  <Words>548</Words>
  <Application>Microsoft Macintosh PowerPoint</Application>
  <PresentationFormat>Widescreen</PresentationFormat>
  <Paragraphs>52</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Calibri</vt:lpstr>
      <vt:lpstr>Calibri Light</vt:lpstr>
      <vt:lpstr>Celestial</vt:lpstr>
      <vt:lpstr>Apt 28 – Fancy bear</vt:lpstr>
      <vt:lpstr>Adversaries/Victims</vt:lpstr>
      <vt:lpstr>Capabilities/infrastruture</vt:lpstr>
      <vt:lpstr>Diamond model of intrusion analysis</vt:lpstr>
      <vt:lpstr>Apt 28 kill chain</vt:lpstr>
      <vt:lpstr>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Arhum Bin Zahid</dc:creator>
  <cp:lastModifiedBy>Arhum Bin Zahid</cp:lastModifiedBy>
  <cp:revision>1</cp:revision>
  <dcterms:created xsi:type="dcterms:W3CDTF">2024-09-30T02:08:33Z</dcterms:created>
  <dcterms:modified xsi:type="dcterms:W3CDTF">2024-09-30T03:27:23Z</dcterms:modified>
</cp:coreProperties>
</file>